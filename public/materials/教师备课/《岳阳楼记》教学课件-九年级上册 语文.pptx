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75" r:id="rId3"/>
    <p:sldMasterId id="2147483687" r:id="rId4"/>
  </p:sldMasterIdLst>
  <p:notesMasterIdLst>
    <p:notesMasterId r:id="rId40"/>
  </p:notesMasterIdLst>
  <p:sldIdLst>
    <p:sldId id="1332" r:id="rId5"/>
    <p:sldId id="1405" r:id="rId6"/>
    <p:sldId id="1352" r:id="rId7"/>
    <p:sldId id="1353" r:id="rId8"/>
    <p:sldId id="1456" r:id="rId9"/>
    <p:sldId id="1407" r:id="rId10"/>
    <p:sldId id="1374" r:id="rId11"/>
    <p:sldId id="1409" r:id="rId12"/>
    <p:sldId id="1375" r:id="rId13"/>
    <p:sldId id="1379" r:id="rId14"/>
    <p:sldId id="1410" r:id="rId15"/>
    <p:sldId id="1376" r:id="rId16"/>
    <p:sldId id="1402" r:id="rId17"/>
    <p:sldId id="1411" r:id="rId18"/>
    <p:sldId id="1377" r:id="rId19"/>
    <p:sldId id="1403" r:id="rId20"/>
    <p:sldId id="1412" r:id="rId21"/>
    <p:sldId id="1378" r:id="rId22"/>
    <p:sldId id="1413" r:id="rId23"/>
    <p:sldId id="1416" r:id="rId24"/>
    <p:sldId id="1418" r:id="rId25"/>
    <p:sldId id="1421" r:id="rId26"/>
    <p:sldId id="1444" r:id="rId27"/>
    <p:sldId id="1445" r:id="rId28"/>
    <p:sldId id="1446" r:id="rId29"/>
    <p:sldId id="1447" r:id="rId30"/>
    <p:sldId id="1448" r:id="rId31"/>
    <p:sldId id="1450" r:id="rId32"/>
    <p:sldId id="1449" r:id="rId33"/>
    <p:sldId id="1451" r:id="rId34"/>
    <p:sldId id="1452" r:id="rId35"/>
    <p:sldId id="1453" r:id="rId36"/>
    <p:sldId id="1454" r:id="rId37"/>
    <p:sldId id="1455" r:id="rId38"/>
    <p:sldId id="1336" r:id="rId39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60">
          <p15:clr>
            <a:srgbClr val="A4A3A4"/>
          </p15:clr>
        </p15:guide>
        <p15:guide id="2" pos="39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38" autoAdjust="0"/>
    <p:restoredTop sz="96159" autoAdjust="0"/>
  </p:normalViewPr>
  <p:slideViewPr>
    <p:cSldViewPr snapToGrid="0" showGuides="1">
      <p:cViewPr varScale="1">
        <p:scale>
          <a:sx n="66" d="100"/>
          <a:sy n="66" d="100"/>
        </p:scale>
        <p:origin x="616" y="32"/>
      </p:cViewPr>
      <p:guideLst>
        <p:guide orient="horz" pos="3660"/>
        <p:guide pos="39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8814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77347-ACBD-44F1-8570-3A0D2A74D6B4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92996-F363-4293-AC63-7DC6D3CC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0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92996-F363-4293-AC63-7DC6D3CCED6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92996-F363-4293-AC63-7DC6D3CCED6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92996-F363-4293-AC63-7DC6D3CCED6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92996-F363-4293-AC63-7DC6D3CCED6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992996-F363-4293-AC63-7DC6D3CCED6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92996-F363-4293-AC63-7DC6D3CCED65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061A-3AF9-43CA-A469-06042ABA883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9E260-E5D6-4B39-969D-DA3565CC5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061A-3AF9-43CA-A469-06042ABA883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9E260-E5D6-4B39-969D-DA3565CC5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061A-3AF9-43CA-A469-06042ABA883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9E260-E5D6-4B39-969D-DA3565CC5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40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</a:pPr>
            <a:fld id="{9A0DB2DC-4C9A-4742-B13C-FB6460FD3503}" type="slidenum">
              <a:rPr lang="en-US" altLang="zh-CN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40ED0B7-2F12-4175-AD68-15549A81C83B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C735626-81AA-4B86-80E7-F06F3493C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40ED0B7-2F12-4175-AD68-15549A81C83B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C735626-81AA-4B86-80E7-F06F3493C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40ED0B7-2F12-4175-AD68-15549A81C83B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C735626-81AA-4B86-80E7-F06F3493C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40ED0B7-2F12-4175-AD68-15549A81C83B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C735626-81AA-4B86-80E7-F06F3493C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40ED0B7-2F12-4175-AD68-15549A81C83B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C735626-81AA-4B86-80E7-F06F3493C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40ED0B7-2F12-4175-AD68-15549A81C83B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C735626-81AA-4B86-80E7-F06F3493C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40ED0B7-2F12-4175-AD68-15549A81C83B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C735626-81AA-4B86-80E7-F06F3493C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40ED0B7-2F12-4175-AD68-15549A81C83B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C735626-81AA-4B86-80E7-F06F3493C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061A-3AF9-43CA-A469-06042ABA883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9E260-E5D6-4B39-969D-DA3565CC5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061A-3AF9-43CA-A469-06042ABA883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9E260-E5D6-4B39-969D-DA3565CC5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061A-3AF9-43CA-A469-06042ABA883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9E260-E5D6-4B39-969D-DA3565CC5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file:///D:\qq&#25991;&#20214;\712321467\Image\C2C\Image2\%7b75232B38-A165-1FB7-499C-2E1C792CACB5%7d.png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file:///D:\qq&#25991;&#20214;\712321467\Image\C2C\Image2\%7b75232B38-A165-1FB7-499C-2E1C792CACB5%7d.png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file:///D:\qq&#25991;&#20214;\712321467\Image\C2C\Image2\%7b75232B38-A165-1FB7-499C-2E1C792CACB5%7d.png" TargetMode="Externa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9" Type="http://schemas.openxmlformats.org/officeDocument/2006/relationships/image" Target="file:///D:\qq&#25991;&#20214;\712321467\Image\C2C\Image2\%7b75232B38-A165-1FB7-499C-2E1C792CACB5%7d.png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A061A-3AF9-43CA-A469-06042ABA883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9E260-E5D6-4B39-969D-DA3565CC5A5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882" y="-1"/>
            <a:ext cx="12188239" cy="6858001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289147" y="261628"/>
            <a:ext cx="11613707" cy="63347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9" name="图片 1073743875" descr="学科网 zxxk.com"/>
          <p:cNvPicPr>
            <a:picLocks noChangeAspect="1"/>
          </p:cNvPicPr>
          <p:nvPr/>
        </p:nvPicPr>
        <p:blipFill>
          <a:blip r:embed="rId9" r:link="rId10"/>
          <a:stretch>
            <a:fillRect/>
          </a:stretch>
        </p:blipFill>
        <p:spPr>
          <a:xfrm>
            <a:off x="838200" y="365127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>
    <p:random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E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1073743875" descr="学科网 zxxk.com"/>
          <p:cNvPicPr>
            <a:picLocks noChangeAspect="1"/>
          </p:cNvPicPr>
          <p:nvPr/>
        </p:nvPicPr>
        <p:blipFill>
          <a:blip r:embed="rId13" r:link="rId14"/>
          <a:stretch>
            <a:fillRect/>
          </a:stretch>
        </p:blipFill>
        <p:spPr>
          <a:xfrm>
            <a:off x="838200" y="365127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ransition>
    <p:random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7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</p:sldLayoutIdLst>
  <p:transition>
    <p:random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A061A-3AF9-43CA-A469-06042ABA8836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9E260-E5D6-4B39-969D-DA3565CC5A5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882" y="-1"/>
            <a:ext cx="12188239" cy="6858001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289147" y="261628"/>
            <a:ext cx="11613707" cy="63347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9" name="图片 1073743875" descr="学科网 zxxk.com"/>
          <p:cNvPicPr>
            <a:picLocks noChangeAspect="1"/>
          </p:cNvPicPr>
          <p:nvPr/>
        </p:nvPicPr>
        <p:blipFill>
          <a:blip r:embed="rId8" r:link="rId9"/>
          <a:stretch>
            <a:fillRect/>
          </a:stretch>
        </p:blipFill>
        <p:spPr>
          <a:xfrm>
            <a:off x="838200" y="365127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</p:sldLayoutIdLst>
  <p:transition>
    <p:random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&#33539;&#20210;&#28153;&#20171;&#32461;.mp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289781" y="261628"/>
            <a:ext cx="11613707" cy="6334749"/>
          </a:xfrm>
          <a:prstGeom prst="rect">
            <a:avLst/>
          </a:prstGeom>
          <a:solidFill>
            <a:sysClr val="window" lastClr="FFFFFF"/>
          </a:solidFill>
          <a:ln w="381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88212" y="826226"/>
            <a:ext cx="1182915" cy="1589315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6266" y="4505390"/>
            <a:ext cx="199279" cy="23393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0" y="1278885"/>
            <a:ext cx="12191365" cy="5557520"/>
            <a:chOff x="0" y="2111"/>
            <a:chExt cx="19199" cy="8752"/>
          </a:xfrm>
        </p:grpSpPr>
        <p:pic>
          <p:nvPicPr>
            <p:cNvPr id="2" name="图片 1" descr="鸟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111"/>
              <a:ext cx="10028" cy="8752"/>
            </a:xfrm>
            <a:prstGeom prst="rect">
              <a:avLst/>
            </a:prstGeom>
          </p:spPr>
        </p:pic>
        <p:pic>
          <p:nvPicPr>
            <p:cNvPr id="3" name="图片 2" descr="建筑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" y="6074"/>
              <a:ext cx="19198" cy="4789"/>
            </a:xfrm>
            <a:prstGeom prst="rect">
              <a:avLst/>
            </a:prstGeom>
          </p:spPr>
        </p:pic>
      </p:grpSp>
      <p:sp>
        <p:nvSpPr>
          <p:cNvPr id="66" name="矩形 65"/>
          <p:cNvSpPr/>
          <p:nvPr/>
        </p:nvSpPr>
        <p:spPr>
          <a:xfrm>
            <a:off x="5766574" y="559437"/>
            <a:ext cx="1200329" cy="3762375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1B3D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篆体" panose="03000509000000000000" pitchFamily="65" charset="-122"/>
                <a:ea typeface="方正小篆体" panose="03000509000000000000" pitchFamily="65" charset="-122"/>
                <a:cs typeface="+mn-cs"/>
              </a:rPr>
              <a:t>岳阳楼记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4167" y="261621"/>
            <a:ext cx="3058908" cy="432689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5906" y="3150237"/>
            <a:ext cx="1019175" cy="1042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281931" y="1087082"/>
            <a:ext cx="11627496" cy="1155129"/>
            <a:chOff x="-1656723" y="1516987"/>
            <a:chExt cx="10990596" cy="2164229"/>
          </a:xfrm>
        </p:grpSpPr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04850" y="1516987"/>
              <a:ext cx="6267450" cy="2164229"/>
            </a:xfrm>
            <a:prstGeom prst="rect">
              <a:avLst/>
            </a:prstGeom>
          </p:spPr>
        </p:pic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972300" y="1516987"/>
              <a:ext cx="2361573" cy="2164229"/>
            </a:xfrm>
            <a:prstGeom prst="rect">
              <a:avLst/>
            </a:prstGeom>
          </p:spPr>
        </p:pic>
        <p:pic>
          <p:nvPicPr>
            <p:cNvPr id="63" name="图片 62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1656723" y="1516987"/>
              <a:ext cx="2361573" cy="2164229"/>
            </a:xfrm>
            <a:prstGeom prst="rect">
              <a:avLst/>
            </a:prstGeom>
          </p:spPr>
        </p:pic>
      </p:grpSp>
      <p:grpSp>
        <p:nvGrpSpPr>
          <p:cNvPr id="80" name="Group 37842"/>
          <p:cNvGrpSpPr>
            <a:grpSpLocks noChangeAspect="1"/>
          </p:cNvGrpSpPr>
          <p:nvPr/>
        </p:nvGrpSpPr>
        <p:grpSpPr>
          <a:xfrm rot="875099" flipH="1">
            <a:off x="10377487" y="456557"/>
            <a:ext cx="964235" cy="562908"/>
            <a:chOff x="2556" y="2961"/>
            <a:chExt cx="1283" cy="749"/>
          </a:xfrm>
          <a:solidFill>
            <a:srgbClr val="414141"/>
          </a:solidFill>
        </p:grpSpPr>
        <p:sp>
          <p:nvSpPr>
            <p:cNvPr id="81" name="Freeform 37843"/>
            <p:cNvSpPr/>
            <p:nvPr/>
          </p:nvSpPr>
          <p:spPr bwMode="auto">
            <a:xfrm>
              <a:off x="3280" y="3538"/>
              <a:ext cx="193" cy="172"/>
            </a:xfrm>
            <a:custGeom>
              <a:avLst/>
              <a:gdLst>
                <a:gd name="T0" fmla="*/ 81 w 81"/>
                <a:gd name="T1" fmla="*/ 31 h 72"/>
                <a:gd name="T2" fmla="*/ 50 w 81"/>
                <a:gd name="T3" fmla="*/ 41 h 72"/>
                <a:gd name="T4" fmla="*/ 43 w 81"/>
                <a:gd name="T5" fmla="*/ 39 h 72"/>
                <a:gd name="T6" fmla="*/ 55 w 81"/>
                <a:gd name="T7" fmla="*/ 15 h 72"/>
                <a:gd name="T8" fmla="*/ 47 w 81"/>
                <a:gd name="T9" fmla="*/ 0 h 72"/>
                <a:gd name="T10" fmla="*/ 31 w 81"/>
                <a:gd name="T11" fmla="*/ 37 h 72"/>
                <a:gd name="T12" fmla="*/ 23 w 81"/>
                <a:gd name="T13" fmla="*/ 51 h 72"/>
                <a:gd name="T14" fmla="*/ 0 w 81"/>
                <a:gd name="T15" fmla="*/ 51 h 72"/>
                <a:gd name="T16" fmla="*/ 14 w 81"/>
                <a:gd name="T17" fmla="*/ 72 h 72"/>
                <a:gd name="T18" fmla="*/ 36 w 81"/>
                <a:gd name="T19" fmla="*/ 59 h 72"/>
                <a:gd name="T20" fmla="*/ 66 w 81"/>
                <a:gd name="T21" fmla="*/ 45 h 72"/>
                <a:gd name="T22" fmla="*/ 81 w 81"/>
                <a:gd name="T23" fmla="*/ 3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" h="72">
                  <a:moveTo>
                    <a:pt x="81" y="31"/>
                  </a:moveTo>
                  <a:cubicBezTo>
                    <a:pt x="81" y="31"/>
                    <a:pt x="61" y="28"/>
                    <a:pt x="50" y="41"/>
                  </a:cubicBezTo>
                  <a:cubicBezTo>
                    <a:pt x="50" y="41"/>
                    <a:pt x="40" y="40"/>
                    <a:pt x="43" y="39"/>
                  </a:cubicBezTo>
                  <a:cubicBezTo>
                    <a:pt x="45" y="39"/>
                    <a:pt x="55" y="20"/>
                    <a:pt x="55" y="15"/>
                  </a:cubicBezTo>
                  <a:cubicBezTo>
                    <a:pt x="55" y="10"/>
                    <a:pt x="47" y="0"/>
                    <a:pt x="47" y="0"/>
                  </a:cubicBezTo>
                  <a:cubicBezTo>
                    <a:pt x="47" y="0"/>
                    <a:pt x="24" y="14"/>
                    <a:pt x="31" y="37"/>
                  </a:cubicBezTo>
                  <a:cubicBezTo>
                    <a:pt x="31" y="37"/>
                    <a:pt x="34" y="49"/>
                    <a:pt x="23" y="51"/>
                  </a:cubicBezTo>
                  <a:cubicBezTo>
                    <a:pt x="11" y="53"/>
                    <a:pt x="0" y="51"/>
                    <a:pt x="0" y="51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4" y="72"/>
                    <a:pt x="27" y="59"/>
                    <a:pt x="36" y="59"/>
                  </a:cubicBezTo>
                  <a:cubicBezTo>
                    <a:pt x="45" y="59"/>
                    <a:pt x="61" y="51"/>
                    <a:pt x="66" y="45"/>
                  </a:cubicBezTo>
                  <a:cubicBezTo>
                    <a:pt x="72" y="38"/>
                    <a:pt x="75" y="32"/>
                    <a:pt x="8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2" name="Freeform 37844"/>
            <p:cNvSpPr/>
            <p:nvPr/>
          </p:nvSpPr>
          <p:spPr bwMode="auto">
            <a:xfrm>
              <a:off x="2556" y="2961"/>
              <a:ext cx="394" cy="308"/>
            </a:xfrm>
            <a:custGeom>
              <a:avLst/>
              <a:gdLst>
                <a:gd name="T0" fmla="*/ 166 w 166"/>
                <a:gd name="T1" fmla="*/ 74 h 129"/>
                <a:gd name="T2" fmla="*/ 103 w 166"/>
                <a:gd name="T3" fmla="*/ 83 h 129"/>
                <a:gd name="T4" fmla="*/ 88 w 166"/>
                <a:gd name="T5" fmla="*/ 76 h 129"/>
                <a:gd name="T6" fmla="*/ 121 w 166"/>
                <a:gd name="T7" fmla="*/ 33 h 129"/>
                <a:gd name="T8" fmla="*/ 111 w 166"/>
                <a:gd name="T9" fmla="*/ 0 h 129"/>
                <a:gd name="T10" fmla="*/ 66 w 166"/>
                <a:gd name="T11" fmla="*/ 68 h 129"/>
                <a:gd name="T12" fmla="*/ 45 w 166"/>
                <a:gd name="T13" fmla="*/ 92 h 129"/>
                <a:gd name="T14" fmla="*/ 0 w 166"/>
                <a:gd name="T15" fmla="*/ 84 h 129"/>
                <a:gd name="T16" fmla="*/ 20 w 166"/>
                <a:gd name="T17" fmla="*/ 129 h 129"/>
                <a:gd name="T18" fmla="*/ 67 w 166"/>
                <a:gd name="T19" fmla="*/ 113 h 129"/>
                <a:gd name="T20" fmla="*/ 133 w 166"/>
                <a:gd name="T21" fmla="*/ 96 h 129"/>
                <a:gd name="T22" fmla="*/ 166 w 166"/>
                <a:gd name="T23" fmla="*/ 7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6" h="129">
                  <a:moveTo>
                    <a:pt x="166" y="74"/>
                  </a:moveTo>
                  <a:cubicBezTo>
                    <a:pt x="166" y="74"/>
                    <a:pt x="128" y="62"/>
                    <a:pt x="103" y="83"/>
                  </a:cubicBezTo>
                  <a:cubicBezTo>
                    <a:pt x="103" y="83"/>
                    <a:pt x="83" y="77"/>
                    <a:pt x="88" y="76"/>
                  </a:cubicBezTo>
                  <a:cubicBezTo>
                    <a:pt x="93" y="76"/>
                    <a:pt x="119" y="42"/>
                    <a:pt x="121" y="33"/>
                  </a:cubicBezTo>
                  <a:cubicBezTo>
                    <a:pt x="123" y="24"/>
                    <a:pt x="111" y="0"/>
                    <a:pt x="111" y="0"/>
                  </a:cubicBezTo>
                  <a:cubicBezTo>
                    <a:pt x="111" y="0"/>
                    <a:pt x="61" y="20"/>
                    <a:pt x="66" y="68"/>
                  </a:cubicBezTo>
                  <a:cubicBezTo>
                    <a:pt x="66" y="68"/>
                    <a:pt x="68" y="93"/>
                    <a:pt x="45" y="92"/>
                  </a:cubicBezTo>
                  <a:cubicBezTo>
                    <a:pt x="22" y="92"/>
                    <a:pt x="0" y="84"/>
                    <a:pt x="0" y="84"/>
                  </a:cubicBezTo>
                  <a:cubicBezTo>
                    <a:pt x="20" y="129"/>
                    <a:pt x="20" y="129"/>
                    <a:pt x="20" y="129"/>
                  </a:cubicBezTo>
                  <a:cubicBezTo>
                    <a:pt x="20" y="129"/>
                    <a:pt x="49" y="110"/>
                    <a:pt x="67" y="113"/>
                  </a:cubicBezTo>
                  <a:cubicBezTo>
                    <a:pt x="85" y="116"/>
                    <a:pt x="120" y="107"/>
                    <a:pt x="133" y="96"/>
                  </a:cubicBezTo>
                  <a:cubicBezTo>
                    <a:pt x="145" y="85"/>
                    <a:pt x="153" y="74"/>
                    <a:pt x="166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3" name="Freeform 37845"/>
            <p:cNvSpPr/>
            <p:nvPr/>
          </p:nvSpPr>
          <p:spPr bwMode="auto">
            <a:xfrm>
              <a:off x="3622" y="3040"/>
              <a:ext cx="217" cy="143"/>
            </a:xfrm>
            <a:custGeom>
              <a:avLst/>
              <a:gdLst>
                <a:gd name="T0" fmla="*/ 91 w 91"/>
                <a:gd name="T1" fmla="*/ 48 h 60"/>
                <a:gd name="T2" fmla="*/ 56 w 91"/>
                <a:gd name="T3" fmla="*/ 45 h 60"/>
                <a:gd name="T4" fmla="*/ 49 w 91"/>
                <a:gd name="T5" fmla="*/ 39 h 60"/>
                <a:gd name="T6" fmla="*/ 73 w 91"/>
                <a:gd name="T7" fmla="*/ 20 h 60"/>
                <a:gd name="T8" fmla="*/ 72 w 91"/>
                <a:gd name="T9" fmla="*/ 0 h 60"/>
                <a:gd name="T10" fmla="*/ 38 w 91"/>
                <a:gd name="T11" fmla="*/ 31 h 60"/>
                <a:gd name="T12" fmla="*/ 23 w 91"/>
                <a:gd name="T13" fmla="*/ 41 h 60"/>
                <a:gd name="T14" fmla="*/ 0 w 91"/>
                <a:gd name="T15" fmla="*/ 31 h 60"/>
                <a:gd name="T16" fmla="*/ 4 w 91"/>
                <a:gd name="T17" fmla="*/ 58 h 60"/>
                <a:gd name="T18" fmla="*/ 32 w 91"/>
                <a:gd name="T19" fmla="*/ 56 h 60"/>
                <a:gd name="T20" fmla="*/ 70 w 91"/>
                <a:gd name="T21" fmla="*/ 56 h 60"/>
                <a:gd name="T22" fmla="*/ 91 w 91"/>
                <a:gd name="T23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60">
                  <a:moveTo>
                    <a:pt x="91" y="48"/>
                  </a:moveTo>
                  <a:cubicBezTo>
                    <a:pt x="91" y="48"/>
                    <a:pt x="73" y="36"/>
                    <a:pt x="56" y="45"/>
                  </a:cubicBezTo>
                  <a:cubicBezTo>
                    <a:pt x="56" y="45"/>
                    <a:pt x="46" y="38"/>
                    <a:pt x="49" y="39"/>
                  </a:cubicBezTo>
                  <a:cubicBezTo>
                    <a:pt x="52" y="39"/>
                    <a:pt x="70" y="25"/>
                    <a:pt x="73" y="20"/>
                  </a:cubicBezTo>
                  <a:cubicBezTo>
                    <a:pt x="75" y="15"/>
                    <a:pt x="72" y="0"/>
                    <a:pt x="72" y="0"/>
                  </a:cubicBezTo>
                  <a:cubicBezTo>
                    <a:pt x="72" y="0"/>
                    <a:pt x="42" y="4"/>
                    <a:pt x="38" y="31"/>
                  </a:cubicBezTo>
                  <a:cubicBezTo>
                    <a:pt x="38" y="31"/>
                    <a:pt x="36" y="45"/>
                    <a:pt x="23" y="41"/>
                  </a:cubicBezTo>
                  <a:cubicBezTo>
                    <a:pt x="11" y="38"/>
                    <a:pt x="0" y="31"/>
                    <a:pt x="0" y="31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23" y="51"/>
                    <a:pt x="32" y="56"/>
                  </a:cubicBezTo>
                  <a:cubicBezTo>
                    <a:pt x="42" y="60"/>
                    <a:pt x="62" y="60"/>
                    <a:pt x="70" y="56"/>
                  </a:cubicBezTo>
                  <a:cubicBezTo>
                    <a:pt x="79" y="52"/>
                    <a:pt x="85" y="46"/>
                    <a:pt x="9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242561" y="512446"/>
            <a:ext cx="1723549" cy="70788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“</a:t>
            </a:r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记</a:t>
            </a:r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”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57276" y="2353311"/>
            <a:ext cx="9916795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32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      </a:t>
            </a:r>
            <a:r>
              <a:rPr lang="zh-CN" altLang="en-US" sz="32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“ 记”，是古代的一种文体。主要是记载事物，并通过记事、记物，写景、记人来抒发作者的感情或见解，即景抒情，托物言志。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003675" y="4076700"/>
            <a:ext cx="648462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olidFill>
                  <a:srgbClr val="B0111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叙事：《桃花源记》</a:t>
            </a:r>
          </a:p>
          <a:p>
            <a:r>
              <a:rPr lang="zh-CN" altLang="en-US" sz="2800" dirty="0">
                <a:solidFill>
                  <a:srgbClr val="B0111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说明：《核舟记》</a:t>
            </a:r>
          </a:p>
          <a:p>
            <a:r>
              <a:rPr lang="zh-CN" altLang="en-US" sz="2800" dirty="0">
                <a:solidFill>
                  <a:srgbClr val="B0111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写景：《小石潭记》</a:t>
            </a:r>
          </a:p>
          <a:p>
            <a:r>
              <a:rPr lang="zh-CN" altLang="en-US" sz="2800" dirty="0">
                <a:solidFill>
                  <a:srgbClr val="B0111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言志：《醉翁亭记》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696" y="330835"/>
            <a:ext cx="4231005" cy="281686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695" y="3254375"/>
            <a:ext cx="5707380" cy="285369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文本框 10"/>
          <p:cNvSpPr txBox="1"/>
          <p:nvPr/>
        </p:nvSpPr>
        <p:spPr>
          <a:xfrm>
            <a:off x="4805046" y="330836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岳阳楼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188077" y="911226"/>
            <a:ext cx="5681345" cy="56323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        </a:t>
            </a: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岳阳楼位于湖南省岳阳市古城西门城墙之上，下瞰洞庭，前望君山，自古有“洞庭天下水，岳阳天下楼”之美誉，与湖北武汉黄鹤楼、江西南昌滕王阁并称为“江南三大名楼”。</a:t>
            </a:r>
          </a:p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        岳阳楼前身是三国时期吴国都督鲁肃的阅兵台。唐玄宗开元四年(716)，张说在阅兵台旧址建造楼阁，取名“岳阳楼”，常与文士们登楼赋诗。</a:t>
            </a:r>
          </a:p>
          <a:p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       1046年，范仲淹的挚友滕子京谪守巴陵郡，重修岳阳楼。当时，范仲淹亦被贬在邓州作官。滕子京请范仲淹为重修的岳阳楼写记，并送去一本《洞庭晚秋图》。范仲淹依据此图，凭着丰富的想像，写下了千古名篇《岳阳楼记》，</a:t>
            </a: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905886" y="633097"/>
            <a:ext cx="1723549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姓名：</a:t>
            </a:r>
          </a:p>
          <a:p>
            <a:pPr algn="l"/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字  ：</a:t>
            </a:r>
          </a:p>
          <a:p>
            <a:pPr algn="l"/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谥号：</a:t>
            </a:r>
          </a:p>
          <a:p>
            <a:pPr algn="l"/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朝代：</a:t>
            </a:r>
          </a:p>
          <a:p>
            <a:pPr algn="l"/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祖籍：</a:t>
            </a:r>
          </a:p>
          <a:p>
            <a:pPr algn="l"/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身份：</a:t>
            </a:r>
          </a:p>
          <a:p>
            <a:pPr algn="l"/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</a:rPr>
              <a:t>身世：</a:t>
            </a:r>
          </a:p>
        </p:txBody>
      </p:sp>
      <p:pic>
        <p:nvPicPr>
          <p:cNvPr id="2" name="图片 1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45" y="633095"/>
            <a:ext cx="2571115" cy="2999740"/>
          </a:xfrm>
          <a:prstGeom prst="ellipse">
            <a:avLst/>
          </a:prstGeom>
          <a:effectLst>
            <a:softEdge rad="63500"/>
          </a:effectLst>
        </p:spPr>
      </p:pic>
      <p:sp>
        <p:nvSpPr>
          <p:cNvPr id="3" name="文本框 2"/>
          <p:cNvSpPr txBox="1"/>
          <p:nvPr/>
        </p:nvSpPr>
        <p:spPr>
          <a:xfrm>
            <a:off x="5379085" y="711837"/>
            <a:ext cx="1415772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范仲淹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94961" y="1295402"/>
            <a:ext cx="1005403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希文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394961" y="1878967"/>
            <a:ext cx="1005403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文正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79086" y="2541272"/>
            <a:ext cx="1005403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北宋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379085" y="3137536"/>
            <a:ext cx="4698722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苏州吴县（今江苏苏州）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94961" y="3721102"/>
            <a:ext cx="3057247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政治家、文学家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394961" y="4391660"/>
            <a:ext cx="4898391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/>
            <a:r>
              <a:rPr lang="zh-CN" altLang="en-US" sz="28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</a:rPr>
              <a:t>自幼孤贫  勤学苦读</a:t>
            </a:r>
          </a:p>
          <a:p>
            <a:pPr fontAlgn="auto"/>
            <a:r>
              <a:rPr lang="zh-CN" altLang="en-US" sz="28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</a:rPr>
              <a:t>庆历新政  政治革新</a:t>
            </a:r>
          </a:p>
          <a:p>
            <a:pPr fontAlgn="auto"/>
            <a:r>
              <a:rPr lang="zh-CN" altLang="en-US" sz="28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</a:rPr>
              <a:t>几起几落  百折不挠</a:t>
            </a:r>
          </a:p>
          <a:p>
            <a:pPr fontAlgn="auto"/>
            <a:r>
              <a:rPr lang="zh-CN" altLang="en-US" sz="28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</a:rPr>
              <a:t>军中一范  西贼破胆</a:t>
            </a:r>
          </a:p>
          <a:p>
            <a:pPr fontAlgn="auto"/>
            <a:r>
              <a:rPr lang="zh-CN" altLang="en-US" sz="2800">
                <a:solidFill>
                  <a:srgbClr val="C00000"/>
                </a:solidFill>
                <a:latin typeface="隶书" panose="02010509060101010101" charset="-122"/>
                <a:ea typeface="隶书" panose="02010509060101010101" charset="-122"/>
              </a:rPr>
              <a:t>先忧后乐  心系天下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9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281931" y="1087082"/>
            <a:ext cx="11627496" cy="1155129"/>
            <a:chOff x="-1656723" y="1516987"/>
            <a:chExt cx="10990596" cy="2164229"/>
          </a:xfrm>
        </p:grpSpPr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04850" y="1516987"/>
              <a:ext cx="6267450" cy="2164229"/>
            </a:xfrm>
            <a:prstGeom prst="rect">
              <a:avLst/>
            </a:prstGeom>
          </p:spPr>
        </p:pic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972300" y="1516987"/>
              <a:ext cx="2361573" cy="2164229"/>
            </a:xfrm>
            <a:prstGeom prst="rect">
              <a:avLst/>
            </a:prstGeom>
          </p:spPr>
        </p:pic>
        <p:pic>
          <p:nvPicPr>
            <p:cNvPr id="63" name="图片 62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1656723" y="1516987"/>
              <a:ext cx="2361573" cy="2164229"/>
            </a:xfrm>
            <a:prstGeom prst="rect">
              <a:avLst/>
            </a:prstGeom>
          </p:spPr>
        </p:pic>
      </p:grpSp>
      <p:grpSp>
        <p:nvGrpSpPr>
          <p:cNvPr id="80" name="Group 37842"/>
          <p:cNvGrpSpPr>
            <a:grpSpLocks noChangeAspect="1"/>
          </p:cNvGrpSpPr>
          <p:nvPr/>
        </p:nvGrpSpPr>
        <p:grpSpPr>
          <a:xfrm rot="875099" flipH="1">
            <a:off x="10377487" y="456557"/>
            <a:ext cx="964235" cy="562908"/>
            <a:chOff x="2556" y="2961"/>
            <a:chExt cx="1283" cy="749"/>
          </a:xfrm>
          <a:solidFill>
            <a:srgbClr val="414141"/>
          </a:solidFill>
        </p:grpSpPr>
        <p:sp>
          <p:nvSpPr>
            <p:cNvPr id="81" name="Freeform 37843"/>
            <p:cNvSpPr/>
            <p:nvPr/>
          </p:nvSpPr>
          <p:spPr bwMode="auto">
            <a:xfrm>
              <a:off x="3280" y="3538"/>
              <a:ext cx="193" cy="172"/>
            </a:xfrm>
            <a:custGeom>
              <a:avLst/>
              <a:gdLst>
                <a:gd name="T0" fmla="*/ 81 w 81"/>
                <a:gd name="T1" fmla="*/ 31 h 72"/>
                <a:gd name="T2" fmla="*/ 50 w 81"/>
                <a:gd name="T3" fmla="*/ 41 h 72"/>
                <a:gd name="T4" fmla="*/ 43 w 81"/>
                <a:gd name="T5" fmla="*/ 39 h 72"/>
                <a:gd name="T6" fmla="*/ 55 w 81"/>
                <a:gd name="T7" fmla="*/ 15 h 72"/>
                <a:gd name="T8" fmla="*/ 47 w 81"/>
                <a:gd name="T9" fmla="*/ 0 h 72"/>
                <a:gd name="T10" fmla="*/ 31 w 81"/>
                <a:gd name="T11" fmla="*/ 37 h 72"/>
                <a:gd name="T12" fmla="*/ 23 w 81"/>
                <a:gd name="T13" fmla="*/ 51 h 72"/>
                <a:gd name="T14" fmla="*/ 0 w 81"/>
                <a:gd name="T15" fmla="*/ 51 h 72"/>
                <a:gd name="T16" fmla="*/ 14 w 81"/>
                <a:gd name="T17" fmla="*/ 72 h 72"/>
                <a:gd name="T18" fmla="*/ 36 w 81"/>
                <a:gd name="T19" fmla="*/ 59 h 72"/>
                <a:gd name="T20" fmla="*/ 66 w 81"/>
                <a:gd name="T21" fmla="*/ 45 h 72"/>
                <a:gd name="T22" fmla="*/ 81 w 81"/>
                <a:gd name="T23" fmla="*/ 3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" h="72">
                  <a:moveTo>
                    <a:pt x="81" y="31"/>
                  </a:moveTo>
                  <a:cubicBezTo>
                    <a:pt x="81" y="31"/>
                    <a:pt x="61" y="28"/>
                    <a:pt x="50" y="41"/>
                  </a:cubicBezTo>
                  <a:cubicBezTo>
                    <a:pt x="50" y="41"/>
                    <a:pt x="40" y="40"/>
                    <a:pt x="43" y="39"/>
                  </a:cubicBezTo>
                  <a:cubicBezTo>
                    <a:pt x="45" y="39"/>
                    <a:pt x="55" y="20"/>
                    <a:pt x="55" y="15"/>
                  </a:cubicBezTo>
                  <a:cubicBezTo>
                    <a:pt x="55" y="10"/>
                    <a:pt x="47" y="0"/>
                    <a:pt x="47" y="0"/>
                  </a:cubicBezTo>
                  <a:cubicBezTo>
                    <a:pt x="47" y="0"/>
                    <a:pt x="24" y="14"/>
                    <a:pt x="31" y="37"/>
                  </a:cubicBezTo>
                  <a:cubicBezTo>
                    <a:pt x="31" y="37"/>
                    <a:pt x="34" y="49"/>
                    <a:pt x="23" y="51"/>
                  </a:cubicBezTo>
                  <a:cubicBezTo>
                    <a:pt x="11" y="53"/>
                    <a:pt x="0" y="51"/>
                    <a:pt x="0" y="51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4" y="72"/>
                    <a:pt x="27" y="59"/>
                    <a:pt x="36" y="59"/>
                  </a:cubicBezTo>
                  <a:cubicBezTo>
                    <a:pt x="45" y="59"/>
                    <a:pt x="61" y="51"/>
                    <a:pt x="66" y="45"/>
                  </a:cubicBezTo>
                  <a:cubicBezTo>
                    <a:pt x="72" y="38"/>
                    <a:pt x="75" y="32"/>
                    <a:pt x="8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2" name="Freeform 37844"/>
            <p:cNvSpPr/>
            <p:nvPr/>
          </p:nvSpPr>
          <p:spPr bwMode="auto">
            <a:xfrm>
              <a:off x="2556" y="2961"/>
              <a:ext cx="394" cy="308"/>
            </a:xfrm>
            <a:custGeom>
              <a:avLst/>
              <a:gdLst>
                <a:gd name="T0" fmla="*/ 166 w 166"/>
                <a:gd name="T1" fmla="*/ 74 h 129"/>
                <a:gd name="T2" fmla="*/ 103 w 166"/>
                <a:gd name="T3" fmla="*/ 83 h 129"/>
                <a:gd name="T4" fmla="*/ 88 w 166"/>
                <a:gd name="T5" fmla="*/ 76 h 129"/>
                <a:gd name="T6" fmla="*/ 121 w 166"/>
                <a:gd name="T7" fmla="*/ 33 h 129"/>
                <a:gd name="T8" fmla="*/ 111 w 166"/>
                <a:gd name="T9" fmla="*/ 0 h 129"/>
                <a:gd name="T10" fmla="*/ 66 w 166"/>
                <a:gd name="T11" fmla="*/ 68 h 129"/>
                <a:gd name="T12" fmla="*/ 45 w 166"/>
                <a:gd name="T13" fmla="*/ 92 h 129"/>
                <a:gd name="T14" fmla="*/ 0 w 166"/>
                <a:gd name="T15" fmla="*/ 84 h 129"/>
                <a:gd name="T16" fmla="*/ 20 w 166"/>
                <a:gd name="T17" fmla="*/ 129 h 129"/>
                <a:gd name="T18" fmla="*/ 67 w 166"/>
                <a:gd name="T19" fmla="*/ 113 h 129"/>
                <a:gd name="T20" fmla="*/ 133 w 166"/>
                <a:gd name="T21" fmla="*/ 96 h 129"/>
                <a:gd name="T22" fmla="*/ 166 w 166"/>
                <a:gd name="T23" fmla="*/ 7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6" h="129">
                  <a:moveTo>
                    <a:pt x="166" y="74"/>
                  </a:moveTo>
                  <a:cubicBezTo>
                    <a:pt x="166" y="74"/>
                    <a:pt x="128" y="62"/>
                    <a:pt x="103" y="83"/>
                  </a:cubicBezTo>
                  <a:cubicBezTo>
                    <a:pt x="103" y="83"/>
                    <a:pt x="83" y="77"/>
                    <a:pt x="88" y="76"/>
                  </a:cubicBezTo>
                  <a:cubicBezTo>
                    <a:pt x="93" y="76"/>
                    <a:pt x="119" y="42"/>
                    <a:pt x="121" y="33"/>
                  </a:cubicBezTo>
                  <a:cubicBezTo>
                    <a:pt x="123" y="24"/>
                    <a:pt x="111" y="0"/>
                    <a:pt x="111" y="0"/>
                  </a:cubicBezTo>
                  <a:cubicBezTo>
                    <a:pt x="111" y="0"/>
                    <a:pt x="61" y="20"/>
                    <a:pt x="66" y="68"/>
                  </a:cubicBezTo>
                  <a:cubicBezTo>
                    <a:pt x="66" y="68"/>
                    <a:pt x="68" y="93"/>
                    <a:pt x="45" y="92"/>
                  </a:cubicBezTo>
                  <a:cubicBezTo>
                    <a:pt x="22" y="92"/>
                    <a:pt x="0" y="84"/>
                    <a:pt x="0" y="84"/>
                  </a:cubicBezTo>
                  <a:cubicBezTo>
                    <a:pt x="20" y="129"/>
                    <a:pt x="20" y="129"/>
                    <a:pt x="20" y="129"/>
                  </a:cubicBezTo>
                  <a:cubicBezTo>
                    <a:pt x="20" y="129"/>
                    <a:pt x="49" y="110"/>
                    <a:pt x="67" y="113"/>
                  </a:cubicBezTo>
                  <a:cubicBezTo>
                    <a:pt x="85" y="116"/>
                    <a:pt x="120" y="107"/>
                    <a:pt x="133" y="96"/>
                  </a:cubicBezTo>
                  <a:cubicBezTo>
                    <a:pt x="145" y="85"/>
                    <a:pt x="153" y="74"/>
                    <a:pt x="166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3" name="Freeform 37845"/>
            <p:cNvSpPr/>
            <p:nvPr/>
          </p:nvSpPr>
          <p:spPr bwMode="auto">
            <a:xfrm>
              <a:off x="3622" y="3040"/>
              <a:ext cx="217" cy="143"/>
            </a:xfrm>
            <a:custGeom>
              <a:avLst/>
              <a:gdLst>
                <a:gd name="T0" fmla="*/ 91 w 91"/>
                <a:gd name="T1" fmla="*/ 48 h 60"/>
                <a:gd name="T2" fmla="*/ 56 w 91"/>
                <a:gd name="T3" fmla="*/ 45 h 60"/>
                <a:gd name="T4" fmla="*/ 49 w 91"/>
                <a:gd name="T5" fmla="*/ 39 h 60"/>
                <a:gd name="T6" fmla="*/ 73 w 91"/>
                <a:gd name="T7" fmla="*/ 20 h 60"/>
                <a:gd name="T8" fmla="*/ 72 w 91"/>
                <a:gd name="T9" fmla="*/ 0 h 60"/>
                <a:gd name="T10" fmla="*/ 38 w 91"/>
                <a:gd name="T11" fmla="*/ 31 h 60"/>
                <a:gd name="T12" fmla="*/ 23 w 91"/>
                <a:gd name="T13" fmla="*/ 41 h 60"/>
                <a:gd name="T14" fmla="*/ 0 w 91"/>
                <a:gd name="T15" fmla="*/ 31 h 60"/>
                <a:gd name="T16" fmla="*/ 4 w 91"/>
                <a:gd name="T17" fmla="*/ 58 h 60"/>
                <a:gd name="T18" fmla="*/ 32 w 91"/>
                <a:gd name="T19" fmla="*/ 56 h 60"/>
                <a:gd name="T20" fmla="*/ 70 w 91"/>
                <a:gd name="T21" fmla="*/ 56 h 60"/>
                <a:gd name="T22" fmla="*/ 91 w 91"/>
                <a:gd name="T23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60">
                  <a:moveTo>
                    <a:pt x="91" y="48"/>
                  </a:moveTo>
                  <a:cubicBezTo>
                    <a:pt x="91" y="48"/>
                    <a:pt x="73" y="36"/>
                    <a:pt x="56" y="45"/>
                  </a:cubicBezTo>
                  <a:cubicBezTo>
                    <a:pt x="56" y="45"/>
                    <a:pt x="46" y="38"/>
                    <a:pt x="49" y="39"/>
                  </a:cubicBezTo>
                  <a:cubicBezTo>
                    <a:pt x="52" y="39"/>
                    <a:pt x="70" y="25"/>
                    <a:pt x="73" y="20"/>
                  </a:cubicBezTo>
                  <a:cubicBezTo>
                    <a:pt x="75" y="15"/>
                    <a:pt x="72" y="0"/>
                    <a:pt x="72" y="0"/>
                  </a:cubicBezTo>
                  <a:cubicBezTo>
                    <a:pt x="72" y="0"/>
                    <a:pt x="42" y="4"/>
                    <a:pt x="38" y="31"/>
                  </a:cubicBezTo>
                  <a:cubicBezTo>
                    <a:pt x="38" y="31"/>
                    <a:pt x="36" y="45"/>
                    <a:pt x="23" y="41"/>
                  </a:cubicBezTo>
                  <a:cubicBezTo>
                    <a:pt x="11" y="38"/>
                    <a:pt x="0" y="31"/>
                    <a:pt x="0" y="31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23" y="51"/>
                    <a:pt x="32" y="56"/>
                  </a:cubicBezTo>
                  <a:cubicBezTo>
                    <a:pt x="42" y="60"/>
                    <a:pt x="62" y="60"/>
                    <a:pt x="70" y="56"/>
                  </a:cubicBezTo>
                  <a:cubicBezTo>
                    <a:pt x="79" y="52"/>
                    <a:pt x="85" y="46"/>
                    <a:pt x="9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193415" y="512446"/>
            <a:ext cx="7366119" cy="70788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学习这篇文章，你要掌握什么？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57276" y="2353312"/>
            <a:ext cx="991679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32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1.</a:t>
            </a:r>
            <a:r>
              <a:rPr lang="zh-CN" altLang="en-US" sz="32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重点的文言文实词和虚词</a:t>
            </a:r>
          </a:p>
          <a:p>
            <a:pPr algn="l"/>
            <a:r>
              <a:rPr lang="en-US" altLang="zh-CN" sz="32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2.</a:t>
            </a:r>
            <a:r>
              <a:rPr lang="zh-CN" altLang="en-US" sz="32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特殊的文言句式</a:t>
            </a:r>
          </a:p>
          <a:p>
            <a:pPr algn="l"/>
            <a:r>
              <a:rPr lang="en-US" altLang="zh-CN" sz="32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3.</a:t>
            </a:r>
            <a:r>
              <a:rPr lang="zh-CN" altLang="en-US" sz="32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根据文言文的翻译原则（留、换、删、补、调）自主翻译文章</a:t>
            </a:r>
          </a:p>
          <a:p>
            <a:pPr algn="l"/>
            <a:r>
              <a:rPr lang="en-US" altLang="zh-CN" sz="32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4.</a:t>
            </a:r>
            <a:r>
              <a:rPr lang="zh-CN" altLang="en-US" sz="3200" dirty="0">
                <a:solidFill>
                  <a:schemeClr val="bg2">
                    <a:lumMod val="25000"/>
                  </a:schemeClr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体会作者的政治情怀</a:t>
            </a: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281931" y="1087082"/>
            <a:ext cx="11627496" cy="1155129"/>
            <a:chOff x="-1656723" y="1516987"/>
            <a:chExt cx="10990596" cy="2164229"/>
          </a:xfrm>
        </p:grpSpPr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04850" y="1516987"/>
              <a:ext cx="6267450" cy="2164229"/>
            </a:xfrm>
            <a:prstGeom prst="rect">
              <a:avLst/>
            </a:prstGeom>
          </p:spPr>
        </p:pic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972300" y="1516987"/>
              <a:ext cx="2361573" cy="2164229"/>
            </a:xfrm>
            <a:prstGeom prst="rect">
              <a:avLst/>
            </a:prstGeom>
          </p:spPr>
        </p:pic>
        <p:pic>
          <p:nvPicPr>
            <p:cNvPr id="63" name="图片 62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1656723" y="1516987"/>
              <a:ext cx="2361573" cy="2164229"/>
            </a:xfrm>
            <a:prstGeom prst="rect">
              <a:avLst/>
            </a:prstGeom>
          </p:spPr>
        </p:pic>
      </p:grpSp>
      <p:grpSp>
        <p:nvGrpSpPr>
          <p:cNvPr id="80" name="Group 37842"/>
          <p:cNvGrpSpPr>
            <a:grpSpLocks noChangeAspect="1"/>
          </p:cNvGrpSpPr>
          <p:nvPr/>
        </p:nvGrpSpPr>
        <p:grpSpPr>
          <a:xfrm rot="875099" flipH="1">
            <a:off x="10377487" y="456557"/>
            <a:ext cx="964235" cy="562908"/>
            <a:chOff x="2556" y="2961"/>
            <a:chExt cx="1283" cy="749"/>
          </a:xfrm>
          <a:solidFill>
            <a:srgbClr val="414141"/>
          </a:solidFill>
        </p:grpSpPr>
        <p:sp>
          <p:nvSpPr>
            <p:cNvPr id="81" name="Freeform 37843"/>
            <p:cNvSpPr/>
            <p:nvPr/>
          </p:nvSpPr>
          <p:spPr bwMode="auto">
            <a:xfrm>
              <a:off x="3280" y="3538"/>
              <a:ext cx="193" cy="172"/>
            </a:xfrm>
            <a:custGeom>
              <a:avLst/>
              <a:gdLst>
                <a:gd name="T0" fmla="*/ 81 w 81"/>
                <a:gd name="T1" fmla="*/ 31 h 72"/>
                <a:gd name="T2" fmla="*/ 50 w 81"/>
                <a:gd name="T3" fmla="*/ 41 h 72"/>
                <a:gd name="T4" fmla="*/ 43 w 81"/>
                <a:gd name="T5" fmla="*/ 39 h 72"/>
                <a:gd name="T6" fmla="*/ 55 w 81"/>
                <a:gd name="T7" fmla="*/ 15 h 72"/>
                <a:gd name="T8" fmla="*/ 47 w 81"/>
                <a:gd name="T9" fmla="*/ 0 h 72"/>
                <a:gd name="T10" fmla="*/ 31 w 81"/>
                <a:gd name="T11" fmla="*/ 37 h 72"/>
                <a:gd name="T12" fmla="*/ 23 w 81"/>
                <a:gd name="T13" fmla="*/ 51 h 72"/>
                <a:gd name="T14" fmla="*/ 0 w 81"/>
                <a:gd name="T15" fmla="*/ 51 h 72"/>
                <a:gd name="T16" fmla="*/ 14 w 81"/>
                <a:gd name="T17" fmla="*/ 72 h 72"/>
                <a:gd name="T18" fmla="*/ 36 w 81"/>
                <a:gd name="T19" fmla="*/ 59 h 72"/>
                <a:gd name="T20" fmla="*/ 66 w 81"/>
                <a:gd name="T21" fmla="*/ 45 h 72"/>
                <a:gd name="T22" fmla="*/ 81 w 81"/>
                <a:gd name="T23" fmla="*/ 3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" h="72">
                  <a:moveTo>
                    <a:pt x="81" y="31"/>
                  </a:moveTo>
                  <a:cubicBezTo>
                    <a:pt x="81" y="31"/>
                    <a:pt x="61" y="28"/>
                    <a:pt x="50" y="41"/>
                  </a:cubicBezTo>
                  <a:cubicBezTo>
                    <a:pt x="50" y="41"/>
                    <a:pt x="40" y="40"/>
                    <a:pt x="43" y="39"/>
                  </a:cubicBezTo>
                  <a:cubicBezTo>
                    <a:pt x="45" y="39"/>
                    <a:pt x="55" y="20"/>
                    <a:pt x="55" y="15"/>
                  </a:cubicBezTo>
                  <a:cubicBezTo>
                    <a:pt x="55" y="10"/>
                    <a:pt x="47" y="0"/>
                    <a:pt x="47" y="0"/>
                  </a:cubicBezTo>
                  <a:cubicBezTo>
                    <a:pt x="47" y="0"/>
                    <a:pt x="24" y="14"/>
                    <a:pt x="31" y="37"/>
                  </a:cubicBezTo>
                  <a:cubicBezTo>
                    <a:pt x="31" y="37"/>
                    <a:pt x="34" y="49"/>
                    <a:pt x="23" y="51"/>
                  </a:cubicBezTo>
                  <a:cubicBezTo>
                    <a:pt x="11" y="53"/>
                    <a:pt x="0" y="51"/>
                    <a:pt x="0" y="51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4" y="72"/>
                    <a:pt x="27" y="59"/>
                    <a:pt x="36" y="59"/>
                  </a:cubicBezTo>
                  <a:cubicBezTo>
                    <a:pt x="45" y="59"/>
                    <a:pt x="61" y="51"/>
                    <a:pt x="66" y="45"/>
                  </a:cubicBezTo>
                  <a:cubicBezTo>
                    <a:pt x="72" y="38"/>
                    <a:pt x="75" y="32"/>
                    <a:pt x="8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2" name="Freeform 37844"/>
            <p:cNvSpPr/>
            <p:nvPr/>
          </p:nvSpPr>
          <p:spPr bwMode="auto">
            <a:xfrm>
              <a:off x="2556" y="2961"/>
              <a:ext cx="394" cy="308"/>
            </a:xfrm>
            <a:custGeom>
              <a:avLst/>
              <a:gdLst>
                <a:gd name="T0" fmla="*/ 166 w 166"/>
                <a:gd name="T1" fmla="*/ 74 h 129"/>
                <a:gd name="T2" fmla="*/ 103 w 166"/>
                <a:gd name="T3" fmla="*/ 83 h 129"/>
                <a:gd name="T4" fmla="*/ 88 w 166"/>
                <a:gd name="T5" fmla="*/ 76 h 129"/>
                <a:gd name="T6" fmla="*/ 121 w 166"/>
                <a:gd name="T7" fmla="*/ 33 h 129"/>
                <a:gd name="T8" fmla="*/ 111 w 166"/>
                <a:gd name="T9" fmla="*/ 0 h 129"/>
                <a:gd name="T10" fmla="*/ 66 w 166"/>
                <a:gd name="T11" fmla="*/ 68 h 129"/>
                <a:gd name="T12" fmla="*/ 45 w 166"/>
                <a:gd name="T13" fmla="*/ 92 h 129"/>
                <a:gd name="T14" fmla="*/ 0 w 166"/>
                <a:gd name="T15" fmla="*/ 84 h 129"/>
                <a:gd name="T16" fmla="*/ 20 w 166"/>
                <a:gd name="T17" fmla="*/ 129 h 129"/>
                <a:gd name="T18" fmla="*/ 67 w 166"/>
                <a:gd name="T19" fmla="*/ 113 h 129"/>
                <a:gd name="T20" fmla="*/ 133 w 166"/>
                <a:gd name="T21" fmla="*/ 96 h 129"/>
                <a:gd name="T22" fmla="*/ 166 w 166"/>
                <a:gd name="T23" fmla="*/ 7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6" h="129">
                  <a:moveTo>
                    <a:pt x="166" y="74"/>
                  </a:moveTo>
                  <a:cubicBezTo>
                    <a:pt x="166" y="74"/>
                    <a:pt x="128" y="62"/>
                    <a:pt x="103" y="83"/>
                  </a:cubicBezTo>
                  <a:cubicBezTo>
                    <a:pt x="103" y="83"/>
                    <a:pt x="83" y="77"/>
                    <a:pt x="88" y="76"/>
                  </a:cubicBezTo>
                  <a:cubicBezTo>
                    <a:pt x="93" y="76"/>
                    <a:pt x="119" y="42"/>
                    <a:pt x="121" y="33"/>
                  </a:cubicBezTo>
                  <a:cubicBezTo>
                    <a:pt x="123" y="24"/>
                    <a:pt x="111" y="0"/>
                    <a:pt x="111" y="0"/>
                  </a:cubicBezTo>
                  <a:cubicBezTo>
                    <a:pt x="111" y="0"/>
                    <a:pt x="61" y="20"/>
                    <a:pt x="66" y="68"/>
                  </a:cubicBezTo>
                  <a:cubicBezTo>
                    <a:pt x="66" y="68"/>
                    <a:pt x="68" y="93"/>
                    <a:pt x="45" y="92"/>
                  </a:cubicBezTo>
                  <a:cubicBezTo>
                    <a:pt x="22" y="92"/>
                    <a:pt x="0" y="84"/>
                    <a:pt x="0" y="84"/>
                  </a:cubicBezTo>
                  <a:cubicBezTo>
                    <a:pt x="20" y="129"/>
                    <a:pt x="20" y="129"/>
                    <a:pt x="20" y="129"/>
                  </a:cubicBezTo>
                  <a:cubicBezTo>
                    <a:pt x="20" y="129"/>
                    <a:pt x="49" y="110"/>
                    <a:pt x="67" y="113"/>
                  </a:cubicBezTo>
                  <a:cubicBezTo>
                    <a:pt x="85" y="116"/>
                    <a:pt x="120" y="107"/>
                    <a:pt x="133" y="96"/>
                  </a:cubicBezTo>
                  <a:cubicBezTo>
                    <a:pt x="145" y="85"/>
                    <a:pt x="153" y="74"/>
                    <a:pt x="166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3" name="Freeform 37845"/>
            <p:cNvSpPr/>
            <p:nvPr/>
          </p:nvSpPr>
          <p:spPr bwMode="auto">
            <a:xfrm>
              <a:off x="3622" y="3040"/>
              <a:ext cx="217" cy="143"/>
            </a:xfrm>
            <a:custGeom>
              <a:avLst/>
              <a:gdLst>
                <a:gd name="T0" fmla="*/ 91 w 91"/>
                <a:gd name="T1" fmla="*/ 48 h 60"/>
                <a:gd name="T2" fmla="*/ 56 w 91"/>
                <a:gd name="T3" fmla="*/ 45 h 60"/>
                <a:gd name="T4" fmla="*/ 49 w 91"/>
                <a:gd name="T5" fmla="*/ 39 h 60"/>
                <a:gd name="T6" fmla="*/ 73 w 91"/>
                <a:gd name="T7" fmla="*/ 20 h 60"/>
                <a:gd name="T8" fmla="*/ 72 w 91"/>
                <a:gd name="T9" fmla="*/ 0 h 60"/>
                <a:gd name="T10" fmla="*/ 38 w 91"/>
                <a:gd name="T11" fmla="*/ 31 h 60"/>
                <a:gd name="T12" fmla="*/ 23 w 91"/>
                <a:gd name="T13" fmla="*/ 41 h 60"/>
                <a:gd name="T14" fmla="*/ 0 w 91"/>
                <a:gd name="T15" fmla="*/ 31 h 60"/>
                <a:gd name="T16" fmla="*/ 4 w 91"/>
                <a:gd name="T17" fmla="*/ 58 h 60"/>
                <a:gd name="T18" fmla="*/ 32 w 91"/>
                <a:gd name="T19" fmla="*/ 56 h 60"/>
                <a:gd name="T20" fmla="*/ 70 w 91"/>
                <a:gd name="T21" fmla="*/ 56 h 60"/>
                <a:gd name="T22" fmla="*/ 91 w 91"/>
                <a:gd name="T23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60">
                  <a:moveTo>
                    <a:pt x="91" y="48"/>
                  </a:moveTo>
                  <a:cubicBezTo>
                    <a:pt x="91" y="48"/>
                    <a:pt x="73" y="36"/>
                    <a:pt x="56" y="45"/>
                  </a:cubicBezTo>
                  <a:cubicBezTo>
                    <a:pt x="56" y="45"/>
                    <a:pt x="46" y="38"/>
                    <a:pt x="49" y="39"/>
                  </a:cubicBezTo>
                  <a:cubicBezTo>
                    <a:pt x="52" y="39"/>
                    <a:pt x="70" y="25"/>
                    <a:pt x="73" y="20"/>
                  </a:cubicBezTo>
                  <a:cubicBezTo>
                    <a:pt x="75" y="15"/>
                    <a:pt x="72" y="0"/>
                    <a:pt x="72" y="0"/>
                  </a:cubicBezTo>
                  <a:cubicBezTo>
                    <a:pt x="72" y="0"/>
                    <a:pt x="42" y="4"/>
                    <a:pt x="38" y="31"/>
                  </a:cubicBezTo>
                  <a:cubicBezTo>
                    <a:pt x="38" y="31"/>
                    <a:pt x="36" y="45"/>
                    <a:pt x="23" y="41"/>
                  </a:cubicBezTo>
                  <a:cubicBezTo>
                    <a:pt x="11" y="38"/>
                    <a:pt x="0" y="31"/>
                    <a:pt x="0" y="31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23" y="51"/>
                    <a:pt x="32" y="56"/>
                  </a:cubicBezTo>
                  <a:cubicBezTo>
                    <a:pt x="42" y="60"/>
                    <a:pt x="62" y="60"/>
                    <a:pt x="70" y="56"/>
                  </a:cubicBezTo>
                  <a:cubicBezTo>
                    <a:pt x="79" y="52"/>
                    <a:pt x="85" y="46"/>
                    <a:pt x="91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242560" y="512446"/>
            <a:ext cx="2236510" cy="70788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隶书" panose="02010509060101010101" charset="-122"/>
                <a:ea typeface="隶书" panose="02010509060101010101" charset="-122"/>
                <a:sym typeface="+mn-ea"/>
              </a:rPr>
              <a:t>识记字词</a:t>
            </a:r>
          </a:p>
        </p:txBody>
      </p:sp>
      <p:sp>
        <p:nvSpPr>
          <p:cNvPr id="27650" name="文本框 27649"/>
          <p:cNvSpPr txBox="1"/>
          <p:nvPr/>
        </p:nvSpPr>
        <p:spPr>
          <a:xfrm>
            <a:off x="2133600" y="2590802"/>
            <a:ext cx="7696200" cy="347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谪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守     怒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号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隐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曜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樯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倾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楫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摧  </a:t>
            </a:r>
          </a:p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岸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芷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汀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兰      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皓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月      薄暮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冥冥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</a:t>
            </a:r>
          </a:p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偕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忘     波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澜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嗟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夫      忧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谗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畏讥</a:t>
            </a:r>
          </a:p>
          <a:p>
            <a:pPr>
              <a:spcBef>
                <a:spcPct val="50000"/>
              </a:spcBef>
            </a:pP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浩浩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汤汤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淫</a:t>
            </a:r>
            <a:r>
              <a:rPr lang="zh-CN" altLang="en-US" sz="4000" dirty="0">
                <a:solidFill>
                  <a:srgbClr val="565656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雨</a:t>
            </a:r>
            <a:r>
              <a:rPr lang="zh-CN" altLang="en-US" sz="4000" dirty="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霏霏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95501" y="2276476"/>
            <a:ext cx="1296035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zhé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24300" y="2276476"/>
            <a:ext cx="117348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háo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59425" y="2276476"/>
            <a:ext cx="114300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yào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48500" y="2242186"/>
            <a:ext cx="1371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qiáng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562340" y="2242187"/>
            <a:ext cx="990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jí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590800" y="3129282"/>
            <a:ext cx="149352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zhǐ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644266" y="3129281"/>
            <a:ext cx="1308735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tīng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273040" y="3129282"/>
            <a:ext cx="141732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hào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134350" y="3129282"/>
            <a:ext cx="2419351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míng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133600" y="4014471"/>
            <a:ext cx="990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xié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145280" y="4014471"/>
            <a:ext cx="990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lán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597525" y="4014471"/>
            <a:ext cx="990600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jiē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635240" y="4014472"/>
            <a:ext cx="182880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chán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970531" y="4975862"/>
            <a:ext cx="254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shāng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806951" y="4975862"/>
            <a:ext cx="14528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yín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588125" y="4975862"/>
            <a:ext cx="254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fēi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2"/>
            <a:ext cx="1013714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200000"/>
              </a:lnSpc>
              <a:defRPr/>
            </a:pPr>
            <a:r>
              <a:rPr lang="en-US" altLang="zh-CN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  </a:t>
            </a:r>
            <a:r>
              <a:rPr lang="zh-CN" altLang="en-US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庆历四年春，滕子京</a:t>
            </a:r>
            <a:r>
              <a:rPr lang="zh-CN" altLang="en-US" sz="2800" spc="-132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谪守</a:t>
            </a:r>
            <a:r>
              <a:rPr lang="zh-CN" altLang="en-US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巴陵郡。</a:t>
            </a:r>
            <a:r>
              <a:rPr lang="zh-CN" altLang="en-US" sz="2800" spc="-132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越明年</a:t>
            </a:r>
            <a:r>
              <a:rPr lang="zh-CN" altLang="en-US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</a:t>
            </a:r>
            <a:r>
              <a:rPr lang="zh-CN" altLang="en-US" sz="2800" spc="-132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政通人和</a:t>
            </a:r>
            <a:r>
              <a:rPr lang="zh-CN" altLang="en-US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，百</a:t>
            </a:r>
            <a:r>
              <a:rPr lang="zh-CN" altLang="en-US" sz="2800" spc="-132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废具</a:t>
            </a:r>
            <a:r>
              <a:rPr lang="zh-CN" altLang="en-US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兴。乃重修岳阳楼，</a:t>
            </a:r>
            <a:r>
              <a:rPr lang="zh-CN" altLang="en-US" sz="2800" spc="-132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增其旧制</a:t>
            </a:r>
            <a:r>
              <a:rPr lang="zh-CN" altLang="en-US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，刻唐贤今人诗赋于其上，</a:t>
            </a:r>
            <a:r>
              <a:rPr lang="zh-CN" altLang="en-US" sz="2800" spc="-132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属</a:t>
            </a:r>
            <a:r>
              <a:rPr lang="zh-CN" altLang="en-US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予作文</a:t>
            </a:r>
            <a:r>
              <a:rPr lang="zh-CN" altLang="en-US" sz="2800" spc="-132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以</a:t>
            </a:r>
            <a:r>
              <a:rPr lang="zh-CN" altLang="en-US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记之。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99206" y="956945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因罪贬谪流放，出任外官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913880" y="152908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185661" y="95694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第二年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268969" y="95694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政事顺利，百姓和乐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552815" y="1529080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形作名，荒废的事业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751695" y="666750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同</a:t>
            </a:r>
            <a:r>
              <a:rPr lang="en-US" altLang="zh-CN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“</a:t>
            </a:r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俱</a:t>
            </a:r>
            <a:r>
              <a:rPr lang="en-US" altLang="zh-CN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”</a:t>
            </a:r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，全、皆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781812" y="18395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于是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956686" y="1781810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扩大它原有的规模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385175" y="242951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00B050"/>
                </a:solidFill>
                <a:latin typeface="华文新魏" panose="02010800040101010101" charset="-122"/>
                <a:ea typeface="华文新魏" panose="02010800040101010101" charset="-122"/>
              </a:rPr>
              <a:t>（倒装句）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845686" y="666750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名作动，做太守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314815" y="1839595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同</a:t>
            </a:r>
            <a:r>
              <a:rPr lang="en-US" altLang="zh-CN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“</a:t>
            </a:r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嘱</a:t>
            </a:r>
            <a:r>
              <a:rPr lang="en-US" altLang="zh-CN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”</a:t>
            </a:r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，嘱托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095375" y="258381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来</a:t>
            </a: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6854191" y="1591312"/>
            <a:ext cx="4138295" cy="952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1180466" y="2499997"/>
            <a:ext cx="9821545" cy="1079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025526" y="3333117"/>
            <a:ext cx="1391285" cy="825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180466" y="3797300"/>
            <a:ext cx="10393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到了第二年，政事顺利，百姓和乐，各种荒废了的事业都兴办起来了。于是重新修建岳阳楼，扩大它原有的规模，把唐代名家和今人的诗赋刻在上面，嘱托我写一篇文章来记述这件事。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2" grpId="0"/>
      <p:bldP spid="13" grpId="0"/>
      <p:bldP spid="20" grpId="0"/>
      <p:bldP spid="21" grpId="0"/>
      <p:bldP spid="22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2"/>
            <a:ext cx="10137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从第</a:t>
            </a: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1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段，你能读出哪些信息？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095375" y="1863727"/>
            <a:ext cx="2291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故事背景：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95376" y="2352677"/>
            <a:ext cx="319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重修岳阳楼的原因：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95375" y="2899412"/>
            <a:ext cx="3295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写《岳阳楼记》的原因：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644141" y="1863727"/>
            <a:ext cx="4930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庆历四年春，滕子京谪守巴陵郡。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34766" y="2352677"/>
            <a:ext cx="4930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越明年，政通人和，百废俱兴。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462781" y="2899412"/>
            <a:ext cx="73374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乃重修岳阳楼，增其旧制，刻唐贤今人诗赋于其上，属予作文以记之。</a:t>
            </a:r>
          </a:p>
        </p:txBody>
      </p:sp>
      <p:sp>
        <p:nvSpPr>
          <p:cNvPr id="80904" name="Text Box 8"/>
          <p:cNvSpPr txBox="1"/>
          <p:nvPr/>
        </p:nvSpPr>
        <p:spPr>
          <a:xfrm>
            <a:off x="4462780" y="3838260"/>
            <a:ext cx="75834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</a:rPr>
              <a:t>孟浩然：气蒸云梦泽，波撼岳阳城</a:t>
            </a:r>
          </a:p>
        </p:txBody>
      </p:sp>
      <p:sp>
        <p:nvSpPr>
          <p:cNvPr id="80905" name="Text Box 9"/>
          <p:cNvSpPr txBox="1"/>
          <p:nvPr/>
        </p:nvSpPr>
        <p:spPr>
          <a:xfrm>
            <a:off x="4462780" y="4235770"/>
            <a:ext cx="71215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b="1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</a:rPr>
              <a:t>杜甫：吴楚东南坼，乾坤日夜浮</a:t>
            </a:r>
          </a:p>
        </p:txBody>
      </p:sp>
      <p:sp>
        <p:nvSpPr>
          <p:cNvPr id="80906" name="Text Box 10"/>
          <p:cNvSpPr txBox="1"/>
          <p:nvPr/>
        </p:nvSpPr>
        <p:spPr>
          <a:xfrm>
            <a:off x="4462780" y="4618675"/>
            <a:ext cx="7010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</a:rPr>
              <a:t>李白：楼观岳阳尽，川迥洞庭开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" grpId="0"/>
      <p:bldP spid="6" grpId="0"/>
      <p:bldP spid="7" grpId="0"/>
      <p:bldP spid="8" grpId="0"/>
      <p:bldP spid="9" grpId="0"/>
      <p:bldP spid="80904" grpId="0" build="p"/>
      <p:bldP spid="80905" grpId="0" build="p"/>
      <p:bldP spid="8090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1"/>
            <a:ext cx="101371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2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予观夫巴陵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胜状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，在洞庭一湖。衔远山，吞长江，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浩浩汤汤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横无际涯，朝晖夕阴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，气象万千，此则岳阳楼之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大观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也，前人之述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备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矣。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然则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北通巫峡，南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极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潇湘，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迁客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骚人，多会于此，览物之情，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得无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异乎？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62251" y="97790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胜景、美景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43252" y="14801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美好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750935" y="977900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水势浩大的样子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95375" y="179006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宽阔无边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65276" y="239141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边际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466975" y="179006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早晚阴晴明暗多变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63215" y="239141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日光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61300" y="179006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壮丽景象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607300" y="233299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00B050"/>
                </a:solidFill>
                <a:latin typeface="华文新魏" panose="02010800040101010101" charset="-122"/>
                <a:ea typeface="华文新魏" panose="02010800040101010101" charset="-122"/>
              </a:rPr>
              <a:t>（判断句）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396221" y="187896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详尽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04341" y="2731770"/>
            <a:ext cx="1653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如此</a:t>
            </a:r>
            <a:r>
              <a:rPr lang="en-US" altLang="zh-CN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......</a:t>
            </a:r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那么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215131" y="273177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至，到达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750560" y="2630170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被降职到外地的官员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818505" y="322961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贬谪、降职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607300" y="322961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00B050"/>
                </a:solidFill>
                <a:latin typeface="华文新魏" panose="02010800040101010101" charset="-122"/>
                <a:ea typeface="华文新魏" panose="02010800040101010101" charset="-122"/>
              </a:rPr>
              <a:t>（倒装句）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57275" y="35534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表猜测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4" grpId="0"/>
      <p:bldP spid="6" grpId="0"/>
      <p:bldP spid="7" grpId="0"/>
      <p:bldP spid="8" grpId="0"/>
      <p:bldP spid="9" grpId="0"/>
      <p:bldP spid="10" grpId="0"/>
      <p:bldP spid="13" grpId="0"/>
      <p:bldP spid="12" grpId="0"/>
      <p:bldP spid="15" grpId="0"/>
      <p:bldP spid="17" grpId="0"/>
      <p:bldP spid="18" grpId="0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2"/>
            <a:ext cx="101371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衔远山，吞长江，浩浩汤汤，横无际涯；朝晖夕阴，气象万千，此则岳阳楼之大观也，前人之述备矣。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095376" y="1863727"/>
            <a:ext cx="1039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它衔接着远方的山脉，吞吐着长江的水流，水势浩大，宽阔无边；早晚阴晴明暗多变，气象万千，这就是岳阳楼的壮丽景象，前人的记述很详尽了。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95375" y="3124202"/>
            <a:ext cx="10137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fontAlgn="auto">
              <a:lnSpc>
                <a:spcPct val="100000"/>
              </a:lnSpc>
              <a:defRPr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en-US" altLang="zh-CN">
                <a:sym typeface="鯨海酔侯"/>
              </a:rPr>
              <a:t>  </a:t>
            </a:r>
            <a:r>
              <a:rPr lang="zh-CN" altLang="en-US">
                <a:sym typeface="鯨海酔侯"/>
              </a:rPr>
              <a:t>然则北通巫峡，南极潇湘，迁客骚人，多会于此，览物之情，得无异乎？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95376" y="4166237"/>
            <a:ext cx="1039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然而北面通向巫峡，南面直到潇水，被降职到外地的官员和文人，大多在这里聚会，（他们）看了自然景物而触发的感情，恐怕会有所不同吧？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2"/>
            <a:ext cx="10137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第</a:t>
            </a: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2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段中，从岳阳楼上看到的景象有什么？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413761" y="2002157"/>
            <a:ext cx="4930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总观，气势磅礴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05275" y="2510157"/>
            <a:ext cx="4930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水波壮阔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895092" y="3098802"/>
            <a:ext cx="7337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阴晴变化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983357" y="3710307"/>
            <a:ext cx="7337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四通八达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25517" y="4535807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7030A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→</a:t>
            </a:r>
            <a:r>
              <a:rPr lang="zh-CN" altLang="en-US" sz="2400">
                <a:solidFill>
                  <a:srgbClr val="7030A0"/>
                </a:solidFill>
                <a:latin typeface="华文新魏" panose="02010800040101010101" charset="-122"/>
                <a:ea typeface="华文新魏" panose="02010800040101010101" charset="-122"/>
              </a:rPr>
              <a:t>览物之情，得无异乎？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53160" y="1863727"/>
            <a:ext cx="447548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衔远山，吞长江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浩浩汤汤，横无际涯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朝晖夕阴，气象万千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北通巫峡，南极潇湘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2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1"/>
            <a:ext cx="101371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2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  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若夫淫雨霏霏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，连月不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开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，阴风怒号，浊浪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排空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；日星隐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曜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山岳潜形，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商旅不行，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樯倾楫摧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；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薄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暮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冥冥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，虎啸猿啼。登斯楼也，则有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去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国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怀乡，忧谗畏讥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，满目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萧然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，感极而悲者矣。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403351" y="938530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用在一段话开头，以引起下文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76781" y="150939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连绵不断的雨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30525" y="619760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雨雪纷纷而下的样子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91735" y="150939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天气放晴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971155" y="93853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冲向天空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155556" y="101854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光芒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77900" y="183959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山岳隐没在阴云中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364356" y="18395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桅杆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761232" y="237109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倒下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055236" y="18395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船桨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564506" y="237109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折断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772275" y="183959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天色昏暗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002156" y="270002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国都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735956" y="18395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迫近</a:t>
            </a:r>
          </a:p>
        </p:txBody>
      </p:sp>
      <p:sp>
        <p:nvSpPr>
          <p:cNvPr id="18" name="Text Box 59"/>
          <p:cNvSpPr txBox="1">
            <a:spLocks noChangeArrowheads="1"/>
          </p:cNvSpPr>
          <p:nvPr/>
        </p:nvSpPr>
        <p:spPr bwMode="auto">
          <a:xfrm>
            <a:off x="5399406" y="3247947"/>
            <a:ext cx="46799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/>
                <a:ea typeface="宋体" charset="-122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/>
                <a:ea typeface="宋体" charset="-122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/>
                <a:ea typeface="宋体" charset="-122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/>
                <a:ea typeface="宋体" charset="-122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萧条、冷落的样子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2"/>
            <a:ext cx="101371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 </a:t>
            </a:r>
            <a:r>
              <a:rPr lang="zh-CN" altLang="en-US" sz="28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若夫淫雨霏霏，连月不开，阴风怒号，浊浪排空；日星隐曜，山岳潜形，商旅不行，樯倾楫摧；薄暮冥冥，虎啸猿啼。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095376" y="1863725"/>
            <a:ext cx="10393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像那雨连绵不断，纷纷而下，接连几个月天气不放晴，阴冷的风怒吼，浑浊的浪冲向天空，太阳和星星隐藏起光辉，山岳隐没在阴云中，商人旅客不能前行，桅杆倒下，船桨断折，傍晚天色昏暗，虎在咆哮猿在悲啼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95375" y="3644266"/>
            <a:ext cx="10137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fontAlgn="auto">
              <a:lnSpc>
                <a:spcPct val="100000"/>
              </a:lnSpc>
              <a:defRPr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en-US" altLang="zh-CN" dirty="0">
                <a:sym typeface="鯨海酔侯"/>
              </a:rPr>
              <a:t>  </a:t>
            </a:r>
            <a:r>
              <a:rPr lang="zh-CN" altLang="en-US" dirty="0">
                <a:sym typeface="鯨海酔侯"/>
              </a:rPr>
              <a:t>登斯楼也，则有去国怀乡，忧谗畏讥，满目萧然，感极而悲者矣。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95376" y="4166237"/>
            <a:ext cx="1039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    </a:t>
            </a:r>
            <a:r>
              <a:rPr lang="zh-CN" altLang="en-US" sz="2400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登上这座楼，就会产生离开国都、怀念家乡、担心被说坏话、畏惧被批评指责的情怀，满眼萧条景象，感慨到极点而悲伤了啊。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2"/>
            <a:ext cx="10137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第</a:t>
            </a: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3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段中描绘了一幅</a:t>
            </a: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____________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图。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2439671" y="1466852"/>
            <a:ext cx="44754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淫雨霏霏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阴风怒号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浊浪排空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日星隐耀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山岳潜形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樯倾楫摧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薄暮冥冥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虎啸猿啼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19371" y="821691"/>
            <a:ext cx="1953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洞庭风雨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56686" y="3199130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→去国怀乡，忧谗畏讥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072631" y="3199130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→满目萧然，感极而</a:t>
            </a:r>
            <a:r>
              <a:rPr lang="zh-CN" altLang="en-US" sz="2400">
                <a:solidFill>
                  <a:srgbClr val="B01116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悲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1"/>
            <a:ext cx="101371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2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至若春和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景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明，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波澜不惊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上下天光，一碧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万顷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；沙鸥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翔集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锦鳞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游泳；岸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芷汀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兰，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郁郁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青青。而或长烟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一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空，皓月千里，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浮光跃金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静影沉璧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，渔歌互答，此乐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何极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！登斯楼也，则有心旷神怡，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宠辱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偕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忘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把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酒临风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，其喜洋洋者矣。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736851" y="94043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日光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752215" y="94043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湖面平静，没有风浪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48575" y="94043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极言广阔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060180" y="94043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时而飞翔，时而停歇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853296" y="152019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停息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76605" y="177165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美丽的鱼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543812" y="177165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白芷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234691" y="177165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小洲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00196" y="177165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形容草木茂盛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194551" y="183959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全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818506" y="263207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哪有尽头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702436" y="355092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一起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736851" y="355092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持，执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27431" y="405766"/>
            <a:ext cx="10137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 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至若春和景明，波澜不惊，上下天光，一碧万顷；沙鸥翔集，锦鳞游泳；岸芷汀兰，郁郁青青。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027431" y="1225550"/>
            <a:ext cx="10393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    </a:t>
            </a:r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至于春风和煦，日光明媚，湖面平静，没有风浪，天色湖光相接，一片青绿，广阔无际，沙洲上的鸥鸟时而飞翔，时而停歇，美丽的鱼儿（在水中）畅游，岸上与小洲上的花草，茂盛并且青绿。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33755" y="2424432"/>
            <a:ext cx="101371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fontAlgn="auto">
              <a:lnSpc>
                <a:spcPct val="100000"/>
              </a:lnSpc>
              <a:defRPr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en-US" altLang="zh-CN" dirty="0">
                <a:sym typeface="鯨海酔侯"/>
              </a:rPr>
              <a:t>  </a:t>
            </a:r>
            <a:r>
              <a:rPr lang="zh-CN" altLang="en-US" dirty="0">
                <a:sym typeface="鯨海酔侯"/>
              </a:rPr>
              <a:t>而或长烟一空，皓月千里，浮光跃金，静影沉璧，渔歌互答，此乐何极！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27431" y="3276601"/>
            <a:ext cx="10393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    </a:t>
            </a:r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有时大片烟雾完全消散，皎洁的月光一泻千里，浮动的光像跳动的金子，静静的月影像沉入水中的玉璧，渔夫的歌声在你唱我和，这样的乐趣哪有尽头啊！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3755" y="4388486"/>
            <a:ext cx="10137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迷你简小隶书" panose="02010609000101010101" pitchFamily="49" charset="-122"/>
                <a:ea typeface="迷你简小隶书" panose="02010609000101010101" pitchFamily="49" charset="-122"/>
                <a:sym typeface="鯨海酔侯"/>
              </a:rPr>
              <a:t>  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登斯楼也，则有心旷神怡，宠辱偕忘，把酒临风，其喜洋洋者矣。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27431" y="4910457"/>
            <a:ext cx="103930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    </a:t>
            </a:r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登上这座楼，就会胸怀开阔，精神爽快，荣耀和屈辱一并忘掉，端着酒，迎着风，那是喜洋洋的欢乐啊！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" grpId="0"/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2"/>
            <a:ext cx="10137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第</a:t>
            </a: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4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段中描绘了一幅</a:t>
            </a: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____________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图。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095375" y="1588772"/>
            <a:ext cx="447548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春和景明，波澜不惊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上下天光，一碧万顷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沙鸥翔集，锦鳞游泳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岸芷汀兰，郁郁青青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长烟一空，皓月千里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浮光跃金，静影沉璧</a:t>
            </a: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渔歌互答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19371" y="821691"/>
            <a:ext cx="1953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洞庭春晴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56686" y="3199130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→此乐何极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70857" y="3198496"/>
            <a:ext cx="5037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→心旷神怡，宠辱偕忘，把酒临风</a:t>
            </a:r>
          </a:p>
        </p:txBody>
      </p:sp>
      <p:sp>
        <p:nvSpPr>
          <p:cNvPr id="2" name="文本框 1"/>
          <p:cNvSpPr txBox="1"/>
          <p:nvPr/>
        </p:nvSpPr>
        <p:spPr>
          <a:xfrm flipH="1">
            <a:off x="10262236" y="3199131"/>
            <a:ext cx="147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→</a:t>
            </a:r>
            <a:r>
              <a:rPr lang="zh-CN" altLang="en-US" sz="2400">
                <a:solidFill>
                  <a:srgbClr val="B01116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喜</a:t>
            </a:r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洋洋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5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1"/>
            <a:ext cx="101371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2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嗟夫！予尝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求古仁人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之心，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或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异二者之为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，何哉？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不</a:t>
            </a:r>
            <a:r>
              <a:rPr lang="zh-CN" altLang="en-US" sz="2800" spc="-132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以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物喜，不以己悲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；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居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庙堂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之高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则忧其民；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处江湖之远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则忧其君。是进亦忧，退亦忧。然则何时而乐耶？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其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必曰“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先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天下之忧而忧，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后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天下之乐而乐”乎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。噫！</a:t>
            </a:r>
            <a:r>
              <a:rPr lang="zh-CN" altLang="en-US" sz="2800" spc="-132">
                <a:solidFill>
                  <a:srgbClr val="B0111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微</a:t>
            </a:r>
            <a:r>
              <a:rPr lang="zh-CN" altLang="en-US" sz="2800" spc="-132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斯人，吾谁与归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056256" y="9213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探求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36291" y="151066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古代品德高尚的人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047615" y="92138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或许、也许，表示委婉语气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098916" y="92138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因为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862581" y="180086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朝廷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410960" y="2642235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在</a:t>
            </a:r>
            <a:r>
              <a:rPr lang="en-US" altLang="zh-CN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...</a:t>
            </a:r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之前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098915" y="2642235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在</a:t>
            </a:r>
            <a:r>
              <a:rPr lang="en-US" altLang="zh-CN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...</a:t>
            </a:r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之后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36291" y="352171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如果没有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35171" y="3229610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表推测语气，大概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2611756" y="2499995"/>
            <a:ext cx="8197215" cy="50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1139190" y="3365500"/>
            <a:ext cx="1296671" cy="50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095376" y="4502787"/>
            <a:ext cx="1039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在朝廷做官，就为他们的百姓担忧；被贬谪到边远地区做地方官，就为他们的君主担忧。这样进朝做官也担忧，退居江湖也担忧。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95375" y="821692"/>
            <a:ext cx="10137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  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第</a:t>
            </a: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5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段主要运用</a:t>
            </a: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______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和</a:t>
            </a: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______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的表达方式。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570865" y="1948180"/>
            <a:ext cx="4475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迁客骚人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33215" y="821690"/>
            <a:ext cx="19532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议论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04366" y="2040257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→览物之情，得无异乎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447666" y="1710055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感极而悲者矣</a:t>
            </a:r>
          </a:p>
        </p:txBody>
      </p:sp>
      <p:sp>
        <p:nvSpPr>
          <p:cNvPr id="2" name="文本框 1"/>
          <p:cNvSpPr txBox="1"/>
          <p:nvPr/>
        </p:nvSpPr>
        <p:spPr>
          <a:xfrm flipH="1">
            <a:off x="10076816" y="2814322"/>
            <a:ext cx="147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（进亦忧）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728335" y="821690"/>
            <a:ext cx="19532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抒情</a:t>
            </a:r>
          </a:p>
        </p:txBody>
      </p:sp>
      <p:sp>
        <p:nvSpPr>
          <p:cNvPr id="8" name="左大括号 7"/>
          <p:cNvSpPr/>
          <p:nvPr/>
        </p:nvSpPr>
        <p:spPr>
          <a:xfrm>
            <a:off x="5046345" y="1813560"/>
            <a:ext cx="401320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447666" y="2267587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其喜洋洋者矣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0865" y="3014345"/>
            <a:ext cx="4475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古仁人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04646" y="3106422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→或异二者之为</a:t>
            </a:r>
          </a:p>
        </p:txBody>
      </p:sp>
      <p:sp>
        <p:nvSpPr>
          <p:cNvPr id="12" name="左大括号 11"/>
          <p:cNvSpPr/>
          <p:nvPr/>
        </p:nvSpPr>
        <p:spPr>
          <a:xfrm>
            <a:off x="7079615" y="2879090"/>
            <a:ext cx="401320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96996" y="3106422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→不以物喜，不以己悲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401562" y="2814322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居庙堂之上则忧其民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401562" y="3361692"/>
            <a:ext cx="503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处江湖之远则忧其君</a:t>
            </a:r>
          </a:p>
        </p:txBody>
      </p:sp>
      <p:sp>
        <p:nvSpPr>
          <p:cNvPr id="17" name="文本框 16"/>
          <p:cNvSpPr txBox="1"/>
          <p:nvPr/>
        </p:nvSpPr>
        <p:spPr>
          <a:xfrm flipH="1">
            <a:off x="10076816" y="3361692"/>
            <a:ext cx="1472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（退亦忧）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903221" y="4497071"/>
            <a:ext cx="6738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7030A0"/>
                </a:solidFill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</a:rPr>
              <a:t>先天下之忧而忧，后天下之乐而乐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70866" y="2593340"/>
            <a:ext cx="19532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（对比）</a:t>
            </a:r>
          </a:p>
        </p:txBody>
      </p:sp>
      <p:sp>
        <p:nvSpPr>
          <p:cNvPr id="20" name="下箭头 19"/>
          <p:cNvSpPr/>
          <p:nvPr/>
        </p:nvSpPr>
        <p:spPr>
          <a:xfrm>
            <a:off x="5921377" y="3566796"/>
            <a:ext cx="282575" cy="9302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7" grpId="0"/>
      <p:bldP spid="4" grpId="0"/>
      <p:bldP spid="5" grpId="0"/>
      <p:bldP spid="2" grpId="0"/>
      <p:bldP spid="6" grpId="0"/>
      <p:bldP spid="8" grpId="0" animBg="1"/>
      <p:bldP spid="9" grpId="0"/>
      <p:bldP spid="10" grpId="0"/>
      <p:bldP spid="11" grpId="0"/>
      <p:bldP spid="12" grpId="0" animBg="1"/>
      <p:bldP spid="13" grpId="0"/>
      <p:bldP spid="15" grpId="0"/>
      <p:bldP spid="16" grpId="0"/>
      <p:bldP spid="17" grpId="0"/>
      <p:bldP spid="18" grpId="0"/>
      <p:bldP spid="19" grpId="0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35842" name="AutoShape 2"/>
          <p:cNvSpPr/>
          <p:nvPr/>
        </p:nvSpPr>
        <p:spPr>
          <a:xfrm>
            <a:off x="1736725" y="1176973"/>
            <a:ext cx="152400" cy="3657600"/>
          </a:xfrm>
          <a:prstGeom prst="leftBrace">
            <a:avLst>
              <a:gd name="adj1" fmla="val 200000"/>
              <a:gd name="adj2" fmla="val 50000"/>
            </a:avLst>
          </a:prstGeom>
          <a:noFill/>
          <a:ln w="444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2800">
              <a:solidFill>
                <a:srgbClr val="40404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35843" name="Text Box 3"/>
          <p:cNvSpPr txBox="1"/>
          <p:nvPr/>
        </p:nvSpPr>
        <p:spPr>
          <a:xfrm>
            <a:off x="2001839" y="822960"/>
            <a:ext cx="6858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叙述</a:t>
            </a:r>
            <a:r>
              <a:rPr lang="zh-CN" altLang="en-US" sz="2800" b="1" dirty="0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作记缘由</a:t>
            </a:r>
          </a:p>
        </p:txBody>
      </p:sp>
      <p:sp>
        <p:nvSpPr>
          <p:cNvPr id="35844" name="Text Box 4"/>
          <p:cNvSpPr txBox="1"/>
          <p:nvPr/>
        </p:nvSpPr>
        <p:spPr>
          <a:xfrm>
            <a:off x="1857376" y="2262825"/>
            <a:ext cx="2016125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描写</a:t>
            </a:r>
            <a:r>
              <a:rPr lang="zh-CN" altLang="en-US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景物</a:t>
            </a:r>
          </a:p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抒情</a:t>
            </a:r>
          </a:p>
        </p:txBody>
      </p:sp>
      <p:sp>
        <p:nvSpPr>
          <p:cNvPr id="35850" name="Text Box 10"/>
          <p:cNvSpPr txBox="1"/>
          <p:nvPr/>
        </p:nvSpPr>
        <p:spPr>
          <a:xfrm>
            <a:off x="2001837" y="4423412"/>
            <a:ext cx="5327651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议论</a:t>
            </a:r>
            <a:r>
              <a:rPr lang="zh-CN" altLang="en-US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先天下之忧而忧</a:t>
            </a:r>
          </a:p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 后天下之乐而乐</a:t>
            </a:r>
          </a:p>
        </p:txBody>
      </p:sp>
      <p:sp>
        <p:nvSpPr>
          <p:cNvPr id="35855" name="Text Box 15"/>
          <p:cNvSpPr txBox="1"/>
          <p:nvPr/>
        </p:nvSpPr>
        <p:spPr>
          <a:xfrm>
            <a:off x="974725" y="1953260"/>
            <a:ext cx="609600" cy="1814830"/>
          </a:xfrm>
          <a:prstGeom prst="rect">
            <a:avLst/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</a:rPr>
              <a:t>岳阳楼记</a:t>
            </a:r>
          </a:p>
        </p:txBody>
      </p:sp>
      <p:sp>
        <p:nvSpPr>
          <p:cNvPr id="35858" name="AutoShape 18"/>
          <p:cNvSpPr/>
          <p:nvPr/>
        </p:nvSpPr>
        <p:spPr>
          <a:xfrm>
            <a:off x="3586163" y="1831023"/>
            <a:ext cx="215900" cy="1295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2800">
              <a:solidFill>
                <a:srgbClr val="40404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35859" name="Text Box 19"/>
          <p:cNvSpPr txBox="1"/>
          <p:nvPr/>
        </p:nvSpPr>
        <p:spPr>
          <a:xfrm>
            <a:off x="3513138" y="1470661"/>
            <a:ext cx="2952751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（</a:t>
            </a:r>
            <a:r>
              <a:rPr lang="en-US" altLang="zh-CN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2</a:t>
            </a:r>
            <a:r>
              <a:rPr lang="zh-CN" altLang="en-US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）概述外景，</a:t>
            </a:r>
          </a:p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 引起下文</a:t>
            </a:r>
          </a:p>
        </p:txBody>
      </p:sp>
      <p:sp>
        <p:nvSpPr>
          <p:cNvPr id="35860" name="Text Box 20"/>
          <p:cNvSpPr txBox="1"/>
          <p:nvPr/>
        </p:nvSpPr>
        <p:spPr>
          <a:xfrm>
            <a:off x="6394451" y="1543685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览物之情，得无异乎</a:t>
            </a:r>
          </a:p>
        </p:txBody>
      </p:sp>
      <p:sp>
        <p:nvSpPr>
          <p:cNvPr id="35861" name="Text Box 21"/>
          <p:cNvSpPr txBox="1"/>
          <p:nvPr/>
        </p:nvSpPr>
        <p:spPr>
          <a:xfrm>
            <a:off x="3513140" y="2816862"/>
            <a:ext cx="3219151" cy="95410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（</a:t>
            </a:r>
            <a:r>
              <a:rPr lang="en-US" altLang="zh-CN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3-4</a:t>
            </a:r>
            <a:r>
              <a:rPr lang="zh-CN" altLang="en-US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）迁客骚人，</a:t>
            </a:r>
          </a:p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40404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     登楼有感</a:t>
            </a:r>
          </a:p>
        </p:txBody>
      </p:sp>
      <p:sp>
        <p:nvSpPr>
          <p:cNvPr id="35865" name="AutoShape 25"/>
          <p:cNvSpPr/>
          <p:nvPr/>
        </p:nvSpPr>
        <p:spPr>
          <a:xfrm>
            <a:off x="6394450" y="2623187"/>
            <a:ext cx="71439" cy="1439863"/>
          </a:xfrm>
          <a:prstGeom prst="leftBrace">
            <a:avLst>
              <a:gd name="adj1" fmla="val 167961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2800">
              <a:solidFill>
                <a:srgbClr val="40404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35866" name="Text Box 26"/>
          <p:cNvSpPr txBox="1"/>
          <p:nvPr/>
        </p:nvSpPr>
        <p:spPr>
          <a:xfrm>
            <a:off x="6415090" y="2407285"/>
            <a:ext cx="3416320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淫雨霏霏，感极而悲</a:t>
            </a:r>
          </a:p>
        </p:txBody>
      </p:sp>
      <p:sp>
        <p:nvSpPr>
          <p:cNvPr id="35867" name="Text Box 27"/>
          <p:cNvSpPr txBox="1"/>
          <p:nvPr/>
        </p:nvSpPr>
        <p:spPr>
          <a:xfrm>
            <a:off x="6415090" y="3559810"/>
            <a:ext cx="3416320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春和景明，喜气洋洋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753100" y="4491355"/>
            <a:ext cx="5982971" cy="1323439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effectLst>
            <a:softEdge rad="31750"/>
          </a:effectLst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本文通过对迁客骚人登楼时或悲或喜的“览物之情”的分析议论，表达了作者“不以物喜，不以己悲”的阔大情怀和“先天下之忧而忧，后天下之乐而乐”政治抱负。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nimBg="1"/>
      <p:bldP spid="35843" grpId="0"/>
      <p:bldP spid="35844" grpId="0"/>
      <p:bldP spid="35850" grpId="0"/>
      <p:bldP spid="35855" grpId="0" animBg="1"/>
      <p:bldP spid="35858" grpId="0" animBg="1"/>
      <p:bldP spid="35859" grpId="0"/>
      <p:bldP spid="35860" grpId="0"/>
      <p:bldP spid="35861" grpId="0"/>
      <p:bldP spid="35865" grpId="0" animBg="1"/>
      <p:bldP spid="35866" grpId="0"/>
      <p:bldP spid="35867" grpId="0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20000" y="4024315"/>
            <a:ext cx="2895600" cy="2212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1" name="Pictur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05400" y="4027488"/>
            <a:ext cx="2209800" cy="220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2" name="Picture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52600" y="3987800"/>
            <a:ext cx="3124200" cy="2178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2286000" y="6172201"/>
            <a:ext cx="2209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l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黄鹤楼</a:t>
            </a:r>
            <a:r>
              <a:rPr kumimoji="1" lang="en-US" altLang="zh-CN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武汉</a:t>
            </a:r>
            <a:r>
              <a:rPr kumimoji="1" lang="en-US" altLang="zh-CN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)</a:t>
            </a:r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5105400" y="6172201"/>
            <a:ext cx="2438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l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滕王阁</a:t>
            </a:r>
            <a:r>
              <a:rPr kumimoji="1" lang="en-US" altLang="zh-CN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南昌</a:t>
            </a:r>
            <a:r>
              <a:rPr kumimoji="1" lang="en-US" altLang="zh-CN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)</a:t>
            </a:r>
          </a:p>
        </p:txBody>
      </p:sp>
      <p:sp>
        <p:nvSpPr>
          <p:cNvPr id="101383" name="Text Box 7"/>
          <p:cNvSpPr txBox="1">
            <a:spLocks noChangeArrowheads="1"/>
          </p:cNvSpPr>
          <p:nvPr/>
        </p:nvSpPr>
        <p:spPr bwMode="auto">
          <a:xfrm>
            <a:off x="7945439" y="6149976"/>
            <a:ext cx="26146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l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岳阳楼</a:t>
            </a:r>
            <a:r>
              <a:rPr kumimoji="1" lang="en-US" altLang="zh-CN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岳阳</a:t>
            </a:r>
            <a:r>
              <a:rPr kumimoji="1" lang="en-US" altLang="zh-CN" sz="28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)</a:t>
            </a:r>
          </a:p>
        </p:txBody>
      </p:sp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3810000" y="3363913"/>
            <a:ext cx="480060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dist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  <a:cs typeface="+mn-cs"/>
              </a:rPr>
              <a:t>江南三大名楼</a:t>
            </a:r>
          </a:p>
        </p:txBody>
      </p:sp>
      <p:sp>
        <p:nvSpPr>
          <p:cNvPr id="101385" name="Text Box 9"/>
          <p:cNvSpPr txBox="1"/>
          <p:nvPr/>
        </p:nvSpPr>
        <p:spPr>
          <a:xfrm>
            <a:off x="1919289" y="385764"/>
            <a:ext cx="7056439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>
                <a:solidFill>
                  <a:srgbClr val="CC0000"/>
                </a:solidFill>
                <a:latin typeface="华文新魏" panose="02010800040101010101" charset="-122"/>
                <a:ea typeface="华文新魏" panose="02010800040101010101" charset="-122"/>
              </a:rPr>
              <a:t>晴川历历汉阳树，芳草萋萋鹦鹉洲。</a:t>
            </a:r>
          </a:p>
        </p:txBody>
      </p:sp>
      <p:sp>
        <p:nvSpPr>
          <p:cNvPr id="101386" name="Text Box 10"/>
          <p:cNvSpPr txBox="1"/>
          <p:nvPr/>
        </p:nvSpPr>
        <p:spPr>
          <a:xfrm>
            <a:off x="7175501" y="962027"/>
            <a:ext cx="29718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>
                <a:solidFill>
                  <a:srgbClr val="0033C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——</a:t>
            </a:r>
            <a:r>
              <a:rPr lang="zh-CN" altLang="en-US" sz="2400" b="1">
                <a:solidFill>
                  <a:srgbClr val="0033C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崔颢</a:t>
            </a:r>
            <a:r>
              <a:rPr lang="en-US" altLang="zh-CN" sz="2400" b="1">
                <a:solidFill>
                  <a:srgbClr val="0033C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《</a:t>
            </a:r>
            <a:r>
              <a:rPr lang="zh-CN" altLang="en-US" sz="2400" b="1">
                <a:solidFill>
                  <a:srgbClr val="0033C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黄鹤楼</a:t>
            </a:r>
            <a:r>
              <a:rPr lang="en-US" altLang="zh-CN" sz="2400" b="1">
                <a:solidFill>
                  <a:srgbClr val="0033C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》</a:t>
            </a:r>
          </a:p>
        </p:txBody>
      </p:sp>
      <p:sp>
        <p:nvSpPr>
          <p:cNvPr id="101387" name="Text Box 11"/>
          <p:cNvSpPr txBox="1"/>
          <p:nvPr/>
        </p:nvSpPr>
        <p:spPr>
          <a:xfrm>
            <a:off x="1990727" y="1416051"/>
            <a:ext cx="8229600" cy="107721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 fontAlgn="auto">
              <a:spcBef>
                <a:spcPct val="0"/>
              </a:spcBef>
            </a:pPr>
            <a:r>
              <a:rPr lang="zh-CN" altLang="en-US" sz="3200" b="1" dirty="0">
                <a:solidFill>
                  <a:srgbClr val="CC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落霞与孤鹜齐飞，秋水共长天一色。</a:t>
            </a:r>
          </a:p>
          <a:p>
            <a:pPr algn="l" fontAlgn="auto">
              <a:spcBef>
                <a:spcPct val="0"/>
              </a:spcBef>
            </a:pPr>
            <a:r>
              <a:rPr lang="zh-CN" altLang="en-US" sz="3200" b="1" dirty="0">
                <a:solidFill>
                  <a:srgbClr val="CC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                                      </a:t>
            </a:r>
            <a:r>
              <a:rPr lang="en-US" altLang="zh-CN" sz="2800" b="1" dirty="0">
                <a:solidFill>
                  <a:srgbClr val="0033C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——</a:t>
            </a:r>
            <a:r>
              <a:rPr lang="zh-CN" altLang="en-US" sz="2800" b="1" dirty="0">
                <a:solidFill>
                  <a:srgbClr val="0033C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王勃</a:t>
            </a:r>
            <a:r>
              <a:rPr lang="en-US" altLang="zh-CN" sz="2800" b="1" dirty="0">
                <a:solidFill>
                  <a:srgbClr val="0033C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《</a:t>
            </a:r>
            <a:r>
              <a:rPr lang="zh-CN" altLang="en-US" sz="2800" b="1" dirty="0">
                <a:solidFill>
                  <a:srgbClr val="0033C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滕王阁序</a:t>
            </a:r>
            <a:r>
              <a:rPr lang="en-US" altLang="zh-CN" sz="2800" b="1" dirty="0">
                <a:solidFill>
                  <a:srgbClr val="0033CC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》</a:t>
            </a:r>
          </a:p>
        </p:txBody>
      </p:sp>
      <p:sp>
        <p:nvSpPr>
          <p:cNvPr id="101388" name="Text Box 12"/>
          <p:cNvSpPr txBox="1">
            <a:spLocks noChangeArrowheads="1"/>
          </p:cNvSpPr>
          <p:nvPr/>
        </p:nvSpPr>
        <p:spPr bwMode="auto">
          <a:xfrm>
            <a:off x="1919288" y="2492376"/>
            <a:ext cx="853281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l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先天下之忧而忧，后天下之乐而乐。</a:t>
            </a:r>
            <a:br>
              <a:rPr kumimoji="1" lang="zh-CN" altLang="en-US" sz="3200" b="1" kern="1200" cap="none" spc="0" normalizeH="0" baseline="0" noProof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</a:br>
            <a:r>
              <a:rPr kumimoji="1" lang="zh-CN" altLang="en-US" sz="3200" b="1" kern="1200" cap="none" spc="0" normalizeH="0" baseline="0" noProof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                             </a:t>
            </a:r>
            <a:r>
              <a:rPr kumimoji="1" lang="en-US" altLang="zh-CN" sz="3200" b="1" kern="1200" cap="none" spc="0" normalizeH="0" baseline="0" noProof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——</a:t>
            </a:r>
            <a:r>
              <a:rPr kumimoji="1" lang="zh-CN" altLang="en-US" sz="3200" b="1" kern="1200" cap="none" spc="0" normalizeH="0" baseline="0" noProof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范仲淹</a:t>
            </a:r>
            <a:r>
              <a:rPr kumimoji="1" lang="en-US" altLang="zh-CN" sz="3200" b="1" kern="1200" cap="none" spc="0" normalizeH="0" baseline="0" noProof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《</a:t>
            </a:r>
            <a:r>
              <a:rPr kumimoji="1" lang="zh-CN" altLang="en-US" sz="3200" b="1" kern="1200" cap="none" spc="0" normalizeH="0" baseline="0" noProof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岳阳楼记</a:t>
            </a:r>
            <a:r>
              <a:rPr kumimoji="1" lang="en-US" altLang="zh-CN" sz="3200" b="1" kern="1200" cap="none" spc="0" normalizeH="0" baseline="0" noProof="0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》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/>
      <p:bldP spid="101382" grpId="0"/>
      <p:bldP spid="101383" grpId="0"/>
      <p:bldP spid="101385" grpId="0"/>
      <p:bldP spid="101386" grpId="0"/>
      <p:bldP spid="101387" grpId="0"/>
      <p:bldP spid="1013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824231" y="889002"/>
            <a:ext cx="1013714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1.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滕子京重修岳阳楼的原因是：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2.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写洞庭湖全景的句子是：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3.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第</a:t>
            </a: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2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段起承上启下作用的句子是：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4.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天气阴冷时迁客骚人的“览物之情”是：</a:t>
            </a:r>
          </a:p>
          <a:p>
            <a:pPr lvl="0" fontAlgn="auto">
              <a:lnSpc>
                <a:spcPct val="100000"/>
              </a:lnSpc>
              <a:defRPr/>
            </a:pPr>
            <a:endParaRPr lang="zh-CN" altLang="en-US" sz="2800" spc="-132">
              <a:solidFill>
                <a:srgbClr val="41414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5.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天气晴朗时迁客骚人的“览物之情”是：</a:t>
            </a:r>
          </a:p>
          <a:p>
            <a:pPr lvl="0" fontAlgn="auto">
              <a:lnSpc>
                <a:spcPct val="100000"/>
              </a:lnSpc>
              <a:defRPr/>
            </a:pPr>
            <a:endParaRPr lang="zh-CN" altLang="en-US" sz="2800" spc="-132">
              <a:solidFill>
                <a:srgbClr val="41414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6.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“古仁人之心”是：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7.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“古仁人”的忧乐观是：</a:t>
            </a:r>
          </a:p>
          <a:p>
            <a:pPr lvl="0" fontAlgn="auto">
              <a:lnSpc>
                <a:spcPct val="100000"/>
              </a:lnSpc>
              <a:defRPr/>
            </a:pPr>
            <a:endParaRPr lang="zh-CN" altLang="en-US" sz="2800" spc="-132">
              <a:solidFill>
                <a:srgbClr val="41414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8.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表达作者旷达胸襟的句子是：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9.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表达作者远大政治抱负（点明中心）的句子是：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64176" y="966470"/>
            <a:ext cx="2749471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b="1" u="sng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政通人和，百废具兴。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16475" y="1365250"/>
            <a:ext cx="6647974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u="sng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衔远山，吞长江，浩浩汤汤，横无际涯；朝晖夕阴，气象万千。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21684" y="1840230"/>
            <a:ext cx="5057795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b="1" u="sng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迁客骚人，多会于此，览物之情，得无异乎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108826" y="2266315"/>
            <a:ext cx="475297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000" b="1" u="sng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登斯楼也，则有去国怀乡，忧谗畏讥，满目萧然，感极而悲者矣。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185026" y="3138806"/>
            <a:ext cx="459994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u="sng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登斯楼也，则有心旷神怡，宠辱偕忘，把酒临风，其喜洋洋者矣。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14175" y="3940810"/>
            <a:ext cx="2492990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 eaLnBrk="1" hangingPunct="1">
              <a:buNone/>
            </a:pPr>
            <a:r>
              <a:rPr lang="zh-CN" altLang="en-US" sz="2000" b="1" u="sng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不以物喜，不以己悲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16476" y="4436112"/>
            <a:ext cx="69691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eaLnBrk="1" hangingPunct="1">
              <a:buNone/>
            </a:pPr>
            <a:r>
              <a:rPr lang="zh-CN" altLang="en-US" sz="2000" b="1" u="sng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居庙堂之高则忧其民；处江湖之远则忧其君  先天下之忧而忧，后天下之乐而乐。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330230" y="5265420"/>
            <a:ext cx="2749471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 eaLnBrk="1" hangingPunct="1">
              <a:buNone/>
            </a:pPr>
            <a:r>
              <a:rPr lang="zh-CN" altLang="en-US" sz="2000" b="1" u="sng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不以物喜，不以己悲。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055909" y="5721985"/>
            <a:ext cx="3877985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 eaLnBrk="1" hangingPunct="1">
              <a:buNone/>
            </a:pPr>
            <a:r>
              <a:rPr lang="zh-CN" altLang="en-US" b="1" u="sng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先天下之忧而忧，后天下之乐而乐。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40435" y="570230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通假字：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27431" y="1238885"/>
            <a:ext cx="101371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1.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百废具兴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2.</a:t>
            </a: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属予作文以记之</a:t>
            </a:r>
          </a:p>
        </p:txBody>
      </p:sp>
      <p:sp>
        <p:nvSpPr>
          <p:cNvPr id="6" name="矩形 5"/>
          <p:cNvSpPr/>
          <p:nvPr/>
        </p:nvSpPr>
        <p:spPr>
          <a:xfrm>
            <a:off x="2223135" y="1480187"/>
            <a:ext cx="450851" cy="446405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480820" y="2216787"/>
            <a:ext cx="450851" cy="446405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60" name="Text Box 20"/>
          <p:cNvSpPr txBox="1"/>
          <p:nvPr/>
        </p:nvSpPr>
        <p:spPr>
          <a:xfrm>
            <a:off x="3310256" y="1442086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同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“</a:t>
            </a: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俱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”</a:t>
            </a: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，全、皆</a:t>
            </a:r>
          </a:p>
        </p:txBody>
      </p:sp>
      <p:sp>
        <p:nvSpPr>
          <p:cNvPr id="8" name="Text Box 20"/>
          <p:cNvSpPr txBox="1"/>
          <p:nvPr/>
        </p:nvSpPr>
        <p:spPr>
          <a:xfrm>
            <a:off x="4385945" y="2216786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同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“</a:t>
            </a: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嘱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”</a:t>
            </a: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，嘱托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480821" y="3013711"/>
            <a:ext cx="6919595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罔不因势象形，各</a:t>
            </a:r>
            <a:r>
              <a:rPr lang="zh-CN" altLang="en-US" sz="2800" b="1" dirty="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具</a:t>
            </a:r>
            <a:r>
              <a:rPr lang="zh-CN" altLang="en-US" sz="28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情态。（《核舟记》）</a:t>
            </a:r>
          </a:p>
          <a:p>
            <a:r>
              <a:rPr lang="zh-CN" altLang="en-US" sz="28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问所送来，</a:t>
            </a:r>
            <a:r>
              <a:rPr lang="zh-CN" altLang="en-US" sz="2800" b="1" dirty="0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具</a:t>
            </a:r>
            <a:r>
              <a:rPr lang="zh-CN" altLang="en-US" sz="2800" b="1" dirty="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</a:rPr>
              <a:t>答之。（《桃花源记》）</a:t>
            </a:r>
          </a:p>
        </p:txBody>
      </p:sp>
      <p:sp>
        <p:nvSpPr>
          <p:cNvPr id="10" name="Text Box 20"/>
          <p:cNvSpPr txBox="1"/>
          <p:nvPr/>
        </p:nvSpPr>
        <p:spPr>
          <a:xfrm>
            <a:off x="8225791" y="301371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具有</a:t>
            </a:r>
          </a:p>
        </p:txBody>
      </p:sp>
      <p:sp>
        <p:nvSpPr>
          <p:cNvPr id="11" name="Text Box 20"/>
          <p:cNvSpPr txBox="1"/>
          <p:nvPr/>
        </p:nvSpPr>
        <p:spPr>
          <a:xfrm>
            <a:off x="7432676" y="344487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详细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5860" grpId="0"/>
      <p:bldP spid="8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40435" y="570230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词类活用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27431" y="1238885"/>
            <a:ext cx="101371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1.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滕子京谪守巴陵郡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2.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百废具兴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3.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刻唐贤今人诗赋于其上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4.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北通巫峡，南极潇湘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5.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居庙堂之高则忧其民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6.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先天下之忧而忧，后天下之乐而乐</a:t>
            </a:r>
          </a:p>
        </p:txBody>
      </p:sp>
      <p:sp>
        <p:nvSpPr>
          <p:cNvPr id="35860" name="Text Box 20"/>
          <p:cNvSpPr txBox="1"/>
          <p:nvPr/>
        </p:nvSpPr>
        <p:spPr>
          <a:xfrm>
            <a:off x="4806316" y="1450976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名词作动词，做太守</a:t>
            </a:r>
          </a:p>
        </p:txBody>
      </p:sp>
      <p:sp>
        <p:nvSpPr>
          <p:cNvPr id="8" name="Text Box 20"/>
          <p:cNvSpPr txBox="1"/>
          <p:nvPr/>
        </p:nvSpPr>
        <p:spPr>
          <a:xfrm>
            <a:off x="3235326" y="2174876"/>
            <a:ext cx="452056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动词作名词，荒废的事业</a:t>
            </a:r>
          </a:p>
        </p:txBody>
      </p:sp>
      <p:sp>
        <p:nvSpPr>
          <p:cNvPr id="10" name="Text Box 20"/>
          <p:cNvSpPr txBox="1"/>
          <p:nvPr/>
        </p:nvSpPr>
        <p:spPr>
          <a:xfrm>
            <a:off x="5547361" y="2880996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形容词做名词，贤士</a:t>
            </a:r>
          </a:p>
        </p:txBody>
      </p:sp>
      <p:sp>
        <p:nvSpPr>
          <p:cNvPr id="11" name="Text Box 20"/>
          <p:cNvSpPr txBox="1"/>
          <p:nvPr/>
        </p:nvSpPr>
        <p:spPr>
          <a:xfrm>
            <a:off x="5025391" y="3617595"/>
            <a:ext cx="55467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名词作状语，向北、向南</a:t>
            </a:r>
          </a:p>
        </p:txBody>
      </p:sp>
      <p:sp>
        <p:nvSpPr>
          <p:cNvPr id="2" name="椭圆 1"/>
          <p:cNvSpPr/>
          <p:nvPr/>
        </p:nvSpPr>
        <p:spPr>
          <a:xfrm>
            <a:off x="2987041" y="1450975"/>
            <a:ext cx="615315" cy="605790"/>
          </a:xfrm>
          <a:prstGeom prst="ellipse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798956" y="2132965"/>
            <a:ext cx="615315" cy="605790"/>
          </a:xfrm>
          <a:prstGeom prst="ellipse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214881" y="2839085"/>
            <a:ext cx="615315" cy="605790"/>
          </a:xfrm>
          <a:prstGeom prst="ellipse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386841" y="3617595"/>
            <a:ext cx="615315" cy="605790"/>
          </a:xfrm>
          <a:prstGeom prst="ellipse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326765" y="3617595"/>
            <a:ext cx="615315" cy="605790"/>
          </a:xfrm>
          <a:prstGeom prst="ellipse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3770631" y="4390390"/>
            <a:ext cx="615315" cy="605790"/>
          </a:xfrm>
          <a:prstGeom prst="ellipse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386841" y="5156200"/>
            <a:ext cx="615315" cy="605790"/>
          </a:xfrm>
          <a:prstGeom prst="ellipse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4506596" y="5087620"/>
            <a:ext cx="615315" cy="605790"/>
          </a:xfrm>
          <a:prstGeom prst="ellipse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 Box 20"/>
          <p:cNvSpPr txBox="1"/>
          <p:nvPr/>
        </p:nvSpPr>
        <p:spPr>
          <a:xfrm>
            <a:off x="5121911" y="4390391"/>
            <a:ext cx="554672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动词的为动用法，为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......</a:t>
            </a: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担忧</a:t>
            </a:r>
          </a:p>
        </p:txBody>
      </p:sp>
      <p:sp>
        <p:nvSpPr>
          <p:cNvPr id="20" name="Text Box 20"/>
          <p:cNvSpPr txBox="1"/>
          <p:nvPr/>
        </p:nvSpPr>
        <p:spPr>
          <a:xfrm>
            <a:off x="7385686" y="5129532"/>
            <a:ext cx="554672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名词作状语，在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......</a:t>
            </a: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之前</a:t>
            </a:r>
          </a:p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                         在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......</a:t>
            </a: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之后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0" grpId="0"/>
      <p:bldP spid="8" grpId="0"/>
      <p:bldP spid="10" grpId="0"/>
      <p:bldP spid="11" grpId="0"/>
      <p:bldP spid="2" grpId="0" animBg="1"/>
      <p:bldP spid="4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40435" y="570230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一词多义：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3601" y="1664336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乃</a:t>
            </a:r>
          </a:p>
        </p:txBody>
      </p:sp>
      <p:sp>
        <p:nvSpPr>
          <p:cNvPr id="35860" name="Text Box 20"/>
          <p:cNvSpPr txBox="1"/>
          <p:nvPr/>
        </p:nvSpPr>
        <p:spPr>
          <a:xfrm>
            <a:off x="3919856" y="127698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于是，就</a:t>
            </a:r>
          </a:p>
        </p:txBody>
      </p:sp>
      <p:sp>
        <p:nvSpPr>
          <p:cNvPr id="8" name="Text Box 20"/>
          <p:cNvSpPr txBox="1"/>
          <p:nvPr/>
        </p:nvSpPr>
        <p:spPr>
          <a:xfrm>
            <a:off x="5440045" y="166433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竟然</a:t>
            </a:r>
          </a:p>
        </p:txBody>
      </p:sp>
      <p:sp>
        <p:nvSpPr>
          <p:cNvPr id="10" name="Text Box 20"/>
          <p:cNvSpPr txBox="1"/>
          <p:nvPr/>
        </p:nvSpPr>
        <p:spPr>
          <a:xfrm>
            <a:off x="6118225" y="213868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才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18311" y="1276986"/>
            <a:ext cx="50222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乃重修岳阳楼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乃不知有汉《桃花源记》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去后乃至《陈太丘与友期行》</a:t>
            </a:r>
          </a:p>
        </p:txBody>
      </p:sp>
      <p:sp>
        <p:nvSpPr>
          <p:cNvPr id="4" name="左大括号 3"/>
          <p:cNvSpPr/>
          <p:nvPr/>
        </p:nvSpPr>
        <p:spPr>
          <a:xfrm>
            <a:off x="1524636" y="1420495"/>
            <a:ext cx="300355" cy="109855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40436" y="3707130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其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824991" y="2660651"/>
            <a:ext cx="73336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增其旧制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其喜洋洋者矣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居庙堂之高则忧其民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其必曰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其真无马耶《马说》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其正色耶？其远而无所至极耶？《逍遥游》</a:t>
            </a:r>
          </a:p>
        </p:txBody>
      </p:sp>
      <p:sp>
        <p:nvSpPr>
          <p:cNvPr id="12" name="左大括号 11"/>
          <p:cNvSpPr/>
          <p:nvPr/>
        </p:nvSpPr>
        <p:spPr>
          <a:xfrm>
            <a:off x="1524636" y="2880997"/>
            <a:ext cx="300355" cy="2258695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 Box 20"/>
          <p:cNvSpPr txBox="1"/>
          <p:nvPr/>
        </p:nvSpPr>
        <p:spPr>
          <a:xfrm>
            <a:off x="3427731" y="2660651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第三人称代词，它的</a:t>
            </a:r>
          </a:p>
        </p:txBody>
      </p:sp>
      <p:sp>
        <p:nvSpPr>
          <p:cNvPr id="15" name="Text Box 20"/>
          <p:cNvSpPr txBox="1"/>
          <p:nvPr/>
        </p:nvSpPr>
        <p:spPr>
          <a:xfrm>
            <a:off x="4021456" y="305816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指示代词，那</a:t>
            </a:r>
          </a:p>
        </p:txBody>
      </p:sp>
      <p:sp>
        <p:nvSpPr>
          <p:cNvPr id="16" name="Text Box 20"/>
          <p:cNvSpPr txBox="1"/>
          <p:nvPr/>
        </p:nvSpPr>
        <p:spPr>
          <a:xfrm>
            <a:off x="4968875" y="3515361"/>
            <a:ext cx="545846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第三人称代词，他的，他们的</a:t>
            </a:r>
          </a:p>
        </p:txBody>
      </p:sp>
      <p:sp>
        <p:nvSpPr>
          <p:cNvPr id="17" name="Text Box 20"/>
          <p:cNvSpPr txBox="1"/>
          <p:nvPr/>
        </p:nvSpPr>
        <p:spPr>
          <a:xfrm>
            <a:off x="2947671" y="3979546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表推测语气，大概</a:t>
            </a:r>
          </a:p>
        </p:txBody>
      </p:sp>
      <p:sp>
        <p:nvSpPr>
          <p:cNvPr id="18" name="Text Box 20"/>
          <p:cNvSpPr txBox="1"/>
          <p:nvPr/>
        </p:nvSpPr>
        <p:spPr>
          <a:xfrm>
            <a:off x="4824096" y="4383406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表诘问语气，难道</a:t>
            </a:r>
          </a:p>
        </p:txBody>
      </p:sp>
      <p:sp>
        <p:nvSpPr>
          <p:cNvPr id="19" name="Text Box 20"/>
          <p:cNvSpPr txBox="1"/>
          <p:nvPr/>
        </p:nvSpPr>
        <p:spPr>
          <a:xfrm>
            <a:off x="8243571" y="481520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表选择语气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0" grpId="0"/>
      <p:bldP spid="8" grpId="0"/>
      <p:bldP spid="10" grpId="0"/>
      <p:bldP spid="6" grpId="0"/>
      <p:bldP spid="9" grpId="0"/>
      <p:bldP spid="12" grpId="0" animBg="1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40435" y="570230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一词多义：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3601" y="2509522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于</a:t>
            </a:r>
          </a:p>
        </p:txBody>
      </p:sp>
      <p:sp>
        <p:nvSpPr>
          <p:cNvPr id="35860" name="Text Box 20"/>
          <p:cNvSpPr txBox="1"/>
          <p:nvPr/>
        </p:nvSpPr>
        <p:spPr>
          <a:xfrm>
            <a:off x="5225416" y="127698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在</a:t>
            </a:r>
          </a:p>
        </p:txBody>
      </p:sp>
      <p:sp>
        <p:nvSpPr>
          <p:cNvPr id="8" name="Text Box 20"/>
          <p:cNvSpPr txBox="1"/>
          <p:nvPr/>
        </p:nvSpPr>
        <p:spPr>
          <a:xfrm>
            <a:off x="3148965" y="170815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在</a:t>
            </a:r>
          </a:p>
        </p:txBody>
      </p:sp>
      <p:sp>
        <p:nvSpPr>
          <p:cNvPr id="10" name="Text Box 20"/>
          <p:cNvSpPr txBox="1"/>
          <p:nvPr/>
        </p:nvSpPr>
        <p:spPr>
          <a:xfrm>
            <a:off x="6731001" y="216725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从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08786" y="1276985"/>
            <a:ext cx="78835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刻唐贤今人诗赋于其上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多会于此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而泻出于两峰之间者《醉翁亭记》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海运则将徙于南冥《逍遥游》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苛政猛于虎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告之于帝《愚公移山》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天将降大任于是人也《生于忧患，死于安乐》</a:t>
            </a:r>
          </a:p>
        </p:txBody>
      </p:sp>
      <p:sp>
        <p:nvSpPr>
          <p:cNvPr id="4" name="左大括号 3"/>
          <p:cNvSpPr/>
          <p:nvPr/>
        </p:nvSpPr>
        <p:spPr>
          <a:xfrm>
            <a:off x="1524635" y="1420497"/>
            <a:ext cx="349251" cy="2761615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38225" y="4919982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夫</a:t>
            </a:r>
          </a:p>
        </p:txBody>
      </p:sp>
      <p:sp>
        <p:nvSpPr>
          <p:cNvPr id="12" name="左大括号 11"/>
          <p:cNvSpPr/>
          <p:nvPr/>
        </p:nvSpPr>
        <p:spPr>
          <a:xfrm>
            <a:off x="1631951" y="4501517"/>
            <a:ext cx="76835" cy="1420495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 Box 20"/>
          <p:cNvSpPr txBox="1"/>
          <p:nvPr/>
        </p:nvSpPr>
        <p:spPr>
          <a:xfrm>
            <a:off x="6096001" y="253619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到</a:t>
            </a:r>
          </a:p>
        </p:txBody>
      </p:sp>
      <p:sp>
        <p:nvSpPr>
          <p:cNvPr id="15" name="Text Box 20"/>
          <p:cNvSpPr txBox="1"/>
          <p:nvPr/>
        </p:nvSpPr>
        <p:spPr>
          <a:xfrm>
            <a:off x="3499485" y="299339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表比较</a:t>
            </a:r>
          </a:p>
        </p:txBody>
      </p:sp>
      <p:sp>
        <p:nvSpPr>
          <p:cNvPr id="16" name="Text Box 20"/>
          <p:cNvSpPr txBox="1"/>
          <p:nvPr/>
        </p:nvSpPr>
        <p:spPr>
          <a:xfrm>
            <a:off x="5076826" y="3431540"/>
            <a:ext cx="54584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向</a:t>
            </a:r>
          </a:p>
        </p:txBody>
      </p:sp>
      <p:sp>
        <p:nvSpPr>
          <p:cNvPr id="17" name="Text Box 20"/>
          <p:cNvSpPr txBox="1"/>
          <p:nvPr/>
        </p:nvSpPr>
        <p:spPr>
          <a:xfrm>
            <a:off x="3789680" y="4685031"/>
            <a:ext cx="5556251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若夫，用在一段话开头，引起下文</a:t>
            </a:r>
          </a:p>
        </p:txBody>
      </p:sp>
      <p:sp>
        <p:nvSpPr>
          <p:cNvPr id="18" name="Text Box 20"/>
          <p:cNvSpPr txBox="1"/>
          <p:nvPr/>
        </p:nvSpPr>
        <p:spPr>
          <a:xfrm>
            <a:off x="8468996" y="382270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给</a:t>
            </a:r>
          </a:p>
        </p:txBody>
      </p:sp>
      <p:sp>
        <p:nvSpPr>
          <p:cNvPr id="19" name="Text Box 20"/>
          <p:cNvSpPr txBox="1"/>
          <p:nvPr/>
        </p:nvSpPr>
        <p:spPr>
          <a:xfrm>
            <a:off x="4047491" y="4287521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指示代词，这、那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08786" y="4344670"/>
            <a:ext cx="485902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予观夫巴陵胜状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若夫淫雨霏霏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嗟夫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逝者如斯夫《论语》</a:t>
            </a:r>
          </a:p>
          <a:p>
            <a:pPr lvl="0" fontAlgn="auto">
              <a:lnSpc>
                <a:spcPct val="100000"/>
              </a:lnSpc>
              <a:defRPr/>
            </a:pPr>
            <a:endParaRPr lang="zh-CN" altLang="en-US" sz="2800" spc="-132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</p:txBody>
      </p:sp>
      <p:sp>
        <p:nvSpPr>
          <p:cNvPr id="20" name="Text Box 20"/>
          <p:cNvSpPr txBox="1"/>
          <p:nvPr/>
        </p:nvSpPr>
        <p:spPr>
          <a:xfrm>
            <a:off x="2513965" y="514921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表感叹语气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4690110" y="556641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表感叹语气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860" grpId="0"/>
      <p:bldP spid="8" grpId="0"/>
      <p:bldP spid="10" grpId="0"/>
      <p:bldP spid="2" grpId="0"/>
      <p:bldP spid="4" grpId="0" animBg="1"/>
      <p:bldP spid="6" grpId="0"/>
      <p:bldP spid="12" grpId="0" animBg="1"/>
      <p:bldP spid="13" grpId="0"/>
      <p:bldP spid="15" grpId="0"/>
      <p:bldP spid="16" grpId="0"/>
      <p:bldP spid="17" grpId="0"/>
      <p:bldP spid="18" grpId="0"/>
      <p:bldP spid="19" grpId="0"/>
      <p:bldP spid="7" grpId="0"/>
      <p:bldP spid="20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40435" y="570230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迷你简小隶书" panose="02010609000101010101" pitchFamily="49" charset="-122"/>
                <a:ea typeface="迷你简小隶书" panose="02010609000101010101" pitchFamily="49" charset="-122"/>
                <a:sym typeface="鯨海酔侯"/>
              </a:rPr>
              <a:t>一词多义：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3601" y="2704467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以</a:t>
            </a:r>
          </a:p>
        </p:txBody>
      </p:sp>
      <p:sp>
        <p:nvSpPr>
          <p:cNvPr id="35860" name="Text Box 20"/>
          <p:cNvSpPr txBox="1"/>
          <p:nvPr/>
        </p:nvSpPr>
        <p:spPr>
          <a:xfrm>
            <a:off x="4386581" y="127127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连词，来</a:t>
            </a:r>
          </a:p>
        </p:txBody>
      </p:sp>
      <p:sp>
        <p:nvSpPr>
          <p:cNvPr id="8" name="Text Box 20"/>
          <p:cNvSpPr txBox="1"/>
          <p:nvPr/>
        </p:nvSpPr>
        <p:spPr>
          <a:xfrm>
            <a:off x="5049521" y="171259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因为</a:t>
            </a:r>
          </a:p>
        </p:txBody>
      </p:sp>
      <p:sp>
        <p:nvSpPr>
          <p:cNvPr id="10" name="Text Box 20"/>
          <p:cNvSpPr txBox="1"/>
          <p:nvPr/>
        </p:nvSpPr>
        <p:spPr>
          <a:xfrm>
            <a:off x="6576696" y="213296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认为，以为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73886" y="1276986"/>
            <a:ext cx="48291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属予作文以记之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不以物喜，不以己悲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虽乘奔御风，不以疾也《三峡》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醒能述以文者《醉翁亭记》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以其境过清《小石潭记》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以残年余力《愚公移山》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卷石底以出《小石潭记》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全石以为底《小石潭记》</a:t>
            </a:r>
          </a:p>
          <a:p>
            <a:pPr lvl="0" fontAlgn="auto">
              <a:lnSpc>
                <a:spcPct val="100000"/>
              </a:lnSpc>
              <a:defRPr/>
            </a:pPr>
            <a:endParaRPr lang="zh-CN" altLang="en-US" sz="2800" spc="-132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1524635" y="1420495"/>
            <a:ext cx="477520" cy="315087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40436" y="5368927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则</a:t>
            </a:r>
          </a:p>
        </p:txBody>
      </p:sp>
      <p:sp>
        <p:nvSpPr>
          <p:cNvPr id="12" name="左大括号 11"/>
          <p:cNvSpPr/>
          <p:nvPr/>
        </p:nvSpPr>
        <p:spPr>
          <a:xfrm>
            <a:off x="1641476" y="4919982"/>
            <a:ext cx="76835" cy="1420495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 Box 20"/>
          <p:cNvSpPr txBox="1"/>
          <p:nvPr/>
        </p:nvSpPr>
        <p:spPr>
          <a:xfrm>
            <a:off x="5933441" y="250952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用</a:t>
            </a:r>
          </a:p>
        </p:txBody>
      </p:sp>
      <p:sp>
        <p:nvSpPr>
          <p:cNvPr id="15" name="Text Box 20"/>
          <p:cNvSpPr txBox="1"/>
          <p:nvPr/>
        </p:nvSpPr>
        <p:spPr>
          <a:xfrm>
            <a:off x="5540376" y="295211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因为</a:t>
            </a:r>
          </a:p>
        </p:txBody>
      </p:sp>
      <p:sp>
        <p:nvSpPr>
          <p:cNvPr id="16" name="Text Box 20"/>
          <p:cNvSpPr txBox="1"/>
          <p:nvPr/>
        </p:nvSpPr>
        <p:spPr>
          <a:xfrm>
            <a:off x="5540375" y="3398520"/>
            <a:ext cx="54584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凭借</a:t>
            </a:r>
          </a:p>
        </p:txBody>
      </p:sp>
      <p:sp>
        <p:nvSpPr>
          <p:cNvPr id="17" name="Text Box 20"/>
          <p:cNvSpPr txBox="1"/>
          <p:nvPr/>
        </p:nvSpPr>
        <p:spPr>
          <a:xfrm>
            <a:off x="3902709" y="5123815"/>
            <a:ext cx="5556251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那么</a:t>
            </a:r>
          </a:p>
        </p:txBody>
      </p:sp>
      <p:sp>
        <p:nvSpPr>
          <p:cNvPr id="18" name="Text Box 20"/>
          <p:cNvSpPr txBox="1"/>
          <p:nvPr/>
        </p:nvSpPr>
        <p:spPr>
          <a:xfrm>
            <a:off x="5618481" y="3818891"/>
            <a:ext cx="571055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连词，表顺承，相当于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“</a:t>
            </a: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而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”</a:t>
            </a:r>
          </a:p>
        </p:txBody>
      </p:sp>
      <p:sp>
        <p:nvSpPr>
          <p:cNvPr id="19" name="Text Box 20"/>
          <p:cNvSpPr txBox="1"/>
          <p:nvPr/>
        </p:nvSpPr>
        <p:spPr>
          <a:xfrm>
            <a:off x="4974589" y="4714241"/>
            <a:ext cx="4550411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副词，用于加强判断，就是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18311" y="4714240"/>
            <a:ext cx="3619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此则岳阳楼之大观也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然则北通巫峡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则有去国怀乡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居庙堂之高则忧其民</a:t>
            </a:r>
            <a:endParaRPr lang="zh-CN" altLang="en-US" sz="2800" spc="-132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</p:txBody>
      </p:sp>
      <p:sp>
        <p:nvSpPr>
          <p:cNvPr id="20" name="Text Box 20"/>
          <p:cNvSpPr txBox="1"/>
          <p:nvPr/>
        </p:nvSpPr>
        <p:spPr>
          <a:xfrm>
            <a:off x="3902711" y="550354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就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4787901" y="600710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就</a:t>
            </a:r>
          </a:p>
        </p:txBody>
      </p:sp>
      <p:sp>
        <p:nvSpPr>
          <p:cNvPr id="9" name="Text Box 20"/>
          <p:cNvSpPr txBox="1"/>
          <p:nvPr/>
        </p:nvSpPr>
        <p:spPr>
          <a:xfrm>
            <a:off x="5618481" y="4259580"/>
            <a:ext cx="57105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以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.....</a:t>
            </a: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为，把</a:t>
            </a:r>
            <a:r>
              <a:rPr lang="en-US" altLang="zh-CN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......</a:t>
            </a: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作为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860" grpId="0"/>
      <p:bldP spid="8" grpId="0"/>
      <p:bldP spid="10" grpId="0"/>
      <p:bldP spid="2" grpId="0"/>
      <p:bldP spid="4" grpId="0" animBg="1"/>
      <p:bldP spid="6" grpId="0"/>
      <p:bldP spid="12" grpId="0" animBg="1"/>
      <p:bldP spid="13" grpId="0"/>
      <p:bldP spid="15" grpId="0"/>
      <p:bldP spid="16" grpId="0"/>
      <p:bldP spid="17" grpId="0"/>
      <p:bldP spid="18" grpId="0"/>
      <p:bldP spid="19" grpId="0"/>
      <p:bldP spid="7" grpId="0"/>
      <p:bldP spid="20" grpId="0"/>
      <p:bldP spid="21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569595" y="270512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一词多义：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3601" y="3298192"/>
            <a:ext cx="5448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之</a:t>
            </a:r>
          </a:p>
        </p:txBody>
      </p:sp>
      <p:sp>
        <p:nvSpPr>
          <p:cNvPr id="35860" name="Text Box 20"/>
          <p:cNvSpPr txBox="1"/>
          <p:nvPr/>
        </p:nvSpPr>
        <p:spPr>
          <a:xfrm>
            <a:off x="4994911" y="119062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结构助词，的</a:t>
            </a:r>
          </a:p>
        </p:txBody>
      </p:sp>
      <p:sp>
        <p:nvSpPr>
          <p:cNvPr id="8" name="Text Box 20"/>
          <p:cNvSpPr txBox="1"/>
          <p:nvPr/>
        </p:nvSpPr>
        <p:spPr>
          <a:xfrm>
            <a:off x="3928109" y="1610995"/>
            <a:ext cx="5556251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结构助词，的</a:t>
            </a:r>
            <a:endParaRPr lang="zh-CN" altLang="en-US" sz="2800" b="1">
              <a:solidFill>
                <a:srgbClr val="C0000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0" name="Text Box 20"/>
          <p:cNvSpPr txBox="1"/>
          <p:nvPr/>
        </p:nvSpPr>
        <p:spPr>
          <a:xfrm>
            <a:off x="3220085" y="2018030"/>
            <a:ext cx="66198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结构助词，的</a:t>
            </a:r>
            <a:endParaRPr lang="zh-CN" altLang="en-US" sz="2800" b="1">
              <a:solidFill>
                <a:srgbClr val="C0000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43077" y="716915"/>
            <a:ext cx="471233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属予作文以记之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此则岳阳楼之大观也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前人之述备矣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览物之情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予尝求古仁人之心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或异二者之为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居庙堂之高则忧其民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先天下之忧而忧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鸣之而不能通其意《马说》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何陋之有《陋室铭》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得之心而寓之酒也《醉翁亭记》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马之千里者《马说》</a:t>
            </a:r>
          </a:p>
          <a:p>
            <a:pPr lvl="0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已而之细柳《周亚夫军细柳》</a:t>
            </a:r>
          </a:p>
        </p:txBody>
      </p:sp>
      <p:sp>
        <p:nvSpPr>
          <p:cNvPr id="4" name="左大括号 3"/>
          <p:cNvSpPr/>
          <p:nvPr/>
        </p:nvSpPr>
        <p:spPr>
          <a:xfrm>
            <a:off x="1524635" y="977267"/>
            <a:ext cx="210820" cy="5225415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 Box 20"/>
          <p:cNvSpPr txBox="1"/>
          <p:nvPr/>
        </p:nvSpPr>
        <p:spPr>
          <a:xfrm>
            <a:off x="4657091" y="242062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结构助词，的</a:t>
            </a:r>
            <a:endParaRPr lang="zh-CN" altLang="en-US" sz="2800" b="1">
              <a:solidFill>
                <a:srgbClr val="C0000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5" name="Text Box 20"/>
          <p:cNvSpPr txBox="1"/>
          <p:nvPr/>
        </p:nvSpPr>
        <p:spPr>
          <a:xfrm>
            <a:off x="3928111" y="286131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结构助词，的</a:t>
            </a:r>
            <a:endParaRPr lang="zh-CN" altLang="en-US" sz="2800" b="1">
              <a:solidFill>
                <a:srgbClr val="C0000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6" name="Text Box 20"/>
          <p:cNvSpPr txBox="1"/>
          <p:nvPr/>
        </p:nvSpPr>
        <p:spPr>
          <a:xfrm>
            <a:off x="4930775" y="3296920"/>
            <a:ext cx="54584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定语后置的标志</a:t>
            </a:r>
          </a:p>
        </p:txBody>
      </p:sp>
      <p:sp>
        <p:nvSpPr>
          <p:cNvPr id="17" name="Text Box 20"/>
          <p:cNvSpPr txBox="1"/>
          <p:nvPr/>
        </p:nvSpPr>
        <p:spPr>
          <a:xfrm>
            <a:off x="4832985" y="4620260"/>
            <a:ext cx="5556251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宾语前置的标志</a:t>
            </a:r>
          </a:p>
        </p:txBody>
      </p:sp>
      <p:sp>
        <p:nvSpPr>
          <p:cNvPr id="18" name="Text Box 20"/>
          <p:cNvSpPr txBox="1"/>
          <p:nvPr/>
        </p:nvSpPr>
        <p:spPr>
          <a:xfrm>
            <a:off x="4240531" y="3722371"/>
            <a:ext cx="571055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用于主谓之间，取消句子的独立性</a:t>
            </a:r>
          </a:p>
        </p:txBody>
      </p:sp>
      <p:sp>
        <p:nvSpPr>
          <p:cNvPr id="19" name="Text Box 20"/>
          <p:cNvSpPr txBox="1"/>
          <p:nvPr/>
        </p:nvSpPr>
        <p:spPr>
          <a:xfrm>
            <a:off x="5838825" y="4189730"/>
            <a:ext cx="4550411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音节助词，无实义</a:t>
            </a:r>
          </a:p>
        </p:txBody>
      </p:sp>
      <p:sp>
        <p:nvSpPr>
          <p:cNvPr id="20" name="Text Box 20"/>
          <p:cNvSpPr txBox="1"/>
          <p:nvPr/>
        </p:nvSpPr>
        <p:spPr>
          <a:xfrm>
            <a:off x="6531611" y="4996181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代词，代山水之乐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4832985" y="5420996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定语后置的标志</a:t>
            </a:r>
          </a:p>
        </p:txBody>
      </p:sp>
      <p:sp>
        <p:nvSpPr>
          <p:cNvPr id="9" name="Text Box 20"/>
          <p:cNvSpPr txBox="1"/>
          <p:nvPr/>
        </p:nvSpPr>
        <p:spPr>
          <a:xfrm>
            <a:off x="6226176" y="593090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到，往</a:t>
            </a:r>
          </a:p>
        </p:txBody>
      </p:sp>
      <p:sp>
        <p:nvSpPr>
          <p:cNvPr id="6" name="Text Box 20"/>
          <p:cNvSpPr txBox="1"/>
          <p:nvPr/>
        </p:nvSpPr>
        <p:spPr>
          <a:xfrm>
            <a:off x="4240531" y="716916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代词，代这件事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860" grpId="0"/>
      <p:bldP spid="8" grpId="0"/>
      <p:bldP spid="10" grpId="0"/>
      <p:bldP spid="2" grpId="0"/>
      <p:bldP spid="4" grpId="0" animBg="1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9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40435" y="570230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一词多义：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48995" y="1382397"/>
            <a:ext cx="4394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观</a:t>
            </a:r>
          </a:p>
        </p:txBody>
      </p:sp>
      <p:sp>
        <p:nvSpPr>
          <p:cNvPr id="35860" name="Text Box 20"/>
          <p:cNvSpPr txBox="1"/>
          <p:nvPr/>
        </p:nvSpPr>
        <p:spPr>
          <a:xfrm>
            <a:off x="4299585" y="119761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看</a:t>
            </a:r>
          </a:p>
        </p:txBody>
      </p:sp>
      <p:sp>
        <p:nvSpPr>
          <p:cNvPr id="8" name="Text Box 20"/>
          <p:cNvSpPr txBox="1"/>
          <p:nvPr/>
        </p:nvSpPr>
        <p:spPr>
          <a:xfrm>
            <a:off x="5017136" y="162877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景象</a:t>
            </a:r>
          </a:p>
        </p:txBody>
      </p:sp>
      <p:sp>
        <p:nvSpPr>
          <p:cNvPr id="10" name="Text Box 20"/>
          <p:cNvSpPr txBox="1"/>
          <p:nvPr/>
        </p:nvSpPr>
        <p:spPr>
          <a:xfrm>
            <a:off x="3319145" y="215074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至，到达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63091" y="1197612"/>
            <a:ext cx="37547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予观夫巴陵胜状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此则岳阳楼之大观也</a:t>
            </a:r>
          </a:p>
        </p:txBody>
      </p:sp>
      <p:sp>
        <p:nvSpPr>
          <p:cNvPr id="4" name="左大括号 3"/>
          <p:cNvSpPr/>
          <p:nvPr/>
        </p:nvSpPr>
        <p:spPr>
          <a:xfrm>
            <a:off x="1515110" y="1367790"/>
            <a:ext cx="234951" cy="59817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 Box 20"/>
          <p:cNvSpPr txBox="1"/>
          <p:nvPr/>
        </p:nvSpPr>
        <p:spPr>
          <a:xfrm>
            <a:off x="3989705" y="256540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极点</a:t>
            </a:r>
          </a:p>
        </p:txBody>
      </p:sp>
      <p:sp>
        <p:nvSpPr>
          <p:cNvPr id="15" name="Text Box 20"/>
          <p:cNvSpPr txBox="1"/>
          <p:nvPr/>
        </p:nvSpPr>
        <p:spPr>
          <a:xfrm>
            <a:off x="3251836" y="299656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穷尽</a:t>
            </a:r>
          </a:p>
        </p:txBody>
      </p:sp>
      <p:sp>
        <p:nvSpPr>
          <p:cNvPr id="16" name="Text Box 20"/>
          <p:cNvSpPr txBox="1"/>
          <p:nvPr/>
        </p:nvSpPr>
        <p:spPr>
          <a:xfrm>
            <a:off x="6202681" y="3432810"/>
            <a:ext cx="54584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非常，很</a:t>
            </a:r>
          </a:p>
        </p:txBody>
      </p:sp>
      <p:sp>
        <p:nvSpPr>
          <p:cNvPr id="18" name="Text Box 20"/>
          <p:cNvSpPr txBox="1"/>
          <p:nvPr/>
        </p:nvSpPr>
        <p:spPr>
          <a:xfrm>
            <a:off x="3319145" y="4015105"/>
            <a:ext cx="57105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和乐</a:t>
            </a:r>
          </a:p>
        </p:txBody>
      </p:sp>
      <p:sp>
        <p:nvSpPr>
          <p:cNvPr id="19" name="Text Box 20"/>
          <p:cNvSpPr txBox="1"/>
          <p:nvPr/>
        </p:nvSpPr>
        <p:spPr>
          <a:xfrm>
            <a:off x="3989704" y="4445635"/>
            <a:ext cx="4550411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和煦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48996" y="2739392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极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863089" y="2150746"/>
            <a:ext cx="48755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南极潇湘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感极而悲者矣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此乐何极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初极狭，才通人《桃花源记》</a:t>
            </a:r>
            <a:endParaRPr lang="zh-CN" altLang="en-US" sz="2800" spc="-132">
              <a:solidFill>
                <a:srgbClr val="41414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</p:txBody>
      </p:sp>
      <p:sp>
        <p:nvSpPr>
          <p:cNvPr id="23" name="左大括号 22"/>
          <p:cNvSpPr/>
          <p:nvPr/>
        </p:nvSpPr>
        <p:spPr>
          <a:xfrm>
            <a:off x="1515111" y="2320927"/>
            <a:ext cx="416560" cy="1420495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48996" y="4207512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和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863091" y="4015107"/>
            <a:ext cx="32232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政通人和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至若春和景明</a:t>
            </a:r>
          </a:p>
          <a:p>
            <a:pPr lvl="0" algn="l" fontAlgn="auto">
              <a:lnSpc>
                <a:spcPct val="100000"/>
              </a:lnSpc>
              <a:defRPr/>
            </a:pPr>
            <a:endParaRPr lang="zh-CN" altLang="en-US" sz="2800" spc="-132">
              <a:solidFill>
                <a:srgbClr val="41414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</p:txBody>
      </p:sp>
      <p:sp>
        <p:nvSpPr>
          <p:cNvPr id="26" name="左大括号 25"/>
          <p:cNvSpPr/>
          <p:nvPr/>
        </p:nvSpPr>
        <p:spPr>
          <a:xfrm>
            <a:off x="1515111" y="4192905"/>
            <a:ext cx="416560" cy="59817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48996" y="5337177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通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863091" y="4967606"/>
            <a:ext cx="43389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政通人和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北通巫峡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鸣之而不能通其意《马说》</a:t>
            </a:r>
          </a:p>
        </p:txBody>
      </p:sp>
      <p:sp>
        <p:nvSpPr>
          <p:cNvPr id="32" name="左大括号 31"/>
          <p:cNvSpPr/>
          <p:nvPr/>
        </p:nvSpPr>
        <p:spPr>
          <a:xfrm>
            <a:off x="1515111" y="5145405"/>
            <a:ext cx="416560" cy="97536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Box 20"/>
          <p:cNvSpPr txBox="1"/>
          <p:nvPr/>
        </p:nvSpPr>
        <p:spPr>
          <a:xfrm>
            <a:off x="3279775" y="4967605"/>
            <a:ext cx="54584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顺利</a:t>
            </a:r>
          </a:p>
        </p:txBody>
      </p:sp>
      <p:sp>
        <p:nvSpPr>
          <p:cNvPr id="34" name="Text Box 20"/>
          <p:cNvSpPr txBox="1"/>
          <p:nvPr/>
        </p:nvSpPr>
        <p:spPr>
          <a:xfrm>
            <a:off x="3319146" y="5398770"/>
            <a:ext cx="54584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通向</a:t>
            </a:r>
          </a:p>
        </p:txBody>
      </p:sp>
      <p:sp>
        <p:nvSpPr>
          <p:cNvPr id="35" name="Text Box 20"/>
          <p:cNvSpPr txBox="1"/>
          <p:nvPr/>
        </p:nvSpPr>
        <p:spPr>
          <a:xfrm>
            <a:off x="5962015" y="5829300"/>
            <a:ext cx="54584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通晓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860" grpId="0"/>
      <p:bldP spid="8" grpId="0"/>
      <p:bldP spid="10" grpId="0"/>
      <p:bldP spid="2" grpId="0"/>
      <p:bldP spid="4" grpId="0" animBg="1"/>
      <p:bldP spid="13" grpId="0"/>
      <p:bldP spid="15" grpId="0"/>
      <p:bldP spid="16" grpId="0"/>
      <p:bldP spid="18" grpId="0"/>
      <p:bldP spid="19" grpId="0"/>
      <p:bldP spid="11" grpId="0"/>
      <p:bldP spid="22" grpId="0"/>
      <p:bldP spid="23" grpId="0" animBg="1"/>
      <p:bldP spid="24" grpId="0"/>
      <p:bldP spid="25" grpId="0"/>
      <p:bldP spid="26" grpId="0" animBg="1"/>
      <p:bldP spid="30" grpId="0"/>
      <p:bldP spid="31" grpId="0"/>
      <p:bldP spid="32" grpId="0" animBg="1"/>
      <p:bldP spid="33" grpId="0"/>
      <p:bldP spid="34" grpId="0"/>
      <p:bldP spid="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40435" y="570230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一词多义：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13" name="Text Box 20"/>
          <p:cNvSpPr txBox="1"/>
          <p:nvPr/>
        </p:nvSpPr>
        <p:spPr>
          <a:xfrm>
            <a:off x="3916045" y="243078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有时候</a:t>
            </a:r>
          </a:p>
        </p:txBody>
      </p:sp>
      <p:sp>
        <p:nvSpPr>
          <p:cNvPr id="15" name="Text Box 20"/>
          <p:cNvSpPr txBox="1"/>
          <p:nvPr/>
        </p:nvSpPr>
        <p:spPr>
          <a:xfrm>
            <a:off x="3813177" y="2856231"/>
            <a:ext cx="535241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或许、也许，表示委婉的语气</a:t>
            </a:r>
          </a:p>
        </p:txBody>
      </p:sp>
      <p:sp>
        <p:nvSpPr>
          <p:cNvPr id="16" name="Text Box 20"/>
          <p:cNvSpPr txBox="1"/>
          <p:nvPr/>
        </p:nvSpPr>
        <p:spPr>
          <a:xfrm>
            <a:off x="5375275" y="3310255"/>
            <a:ext cx="54584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有时候</a:t>
            </a:r>
          </a:p>
        </p:txBody>
      </p:sp>
      <p:sp>
        <p:nvSpPr>
          <p:cNvPr id="17" name="Text Box 20"/>
          <p:cNvSpPr txBox="1"/>
          <p:nvPr/>
        </p:nvSpPr>
        <p:spPr>
          <a:xfrm>
            <a:off x="3813175" y="4559935"/>
            <a:ext cx="5556251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消散</a:t>
            </a:r>
          </a:p>
        </p:txBody>
      </p:sp>
      <p:sp>
        <p:nvSpPr>
          <p:cNvPr id="18" name="Text Box 20"/>
          <p:cNvSpPr txBox="1"/>
          <p:nvPr/>
        </p:nvSpPr>
        <p:spPr>
          <a:xfrm>
            <a:off x="5433061" y="3723640"/>
            <a:ext cx="57105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有人</a:t>
            </a:r>
          </a:p>
        </p:txBody>
      </p:sp>
      <p:sp>
        <p:nvSpPr>
          <p:cNvPr id="19" name="Text Box 20"/>
          <p:cNvSpPr txBox="1"/>
          <p:nvPr/>
        </p:nvSpPr>
        <p:spPr>
          <a:xfrm>
            <a:off x="3122295" y="4134485"/>
            <a:ext cx="4550411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天空</a:t>
            </a:r>
          </a:p>
        </p:txBody>
      </p:sp>
      <p:sp>
        <p:nvSpPr>
          <p:cNvPr id="20" name="Text Box 20"/>
          <p:cNvSpPr txBox="1"/>
          <p:nvPr/>
        </p:nvSpPr>
        <p:spPr>
          <a:xfrm>
            <a:off x="6047741" y="4996181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名词作状语，在空中</a:t>
            </a:r>
          </a:p>
        </p:txBody>
      </p:sp>
      <p:sp>
        <p:nvSpPr>
          <p:cNvPr id="6" name="Text Box 20"/>
          <p:cNvSpPr txBox="1"/>
          <p:nvPr/>
        </p:nvSpPr>
        <p:spPr>
          <a:xfrm>
            <a:off x="3916045" y="155892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全、都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07696" y="1570992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一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690371" y="1145542"/>
            <a:ext cx="357124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一碧万顷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而或长烟一空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在洞庭一湖</a:t>
            </a:r>
          </a:p>
        </p:txBody>
      </p:sp>
      <p:sp>
        <p:nvSpPr>
          <p:cNvPr id="29" name="左大括号 28"/>
          <p:cNvSpPr/>
          <p:nvPr/>
        </p:nvSpPr>
        <p:spPr>
          <a:xfrm>
            <a:off x="1273811" y="1371600"/>
            <a:ext cx="416560" cy="95504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 Box 20"/>
          <p:cNvSpPr txBox="1"/>
          <p:nvPr/>
        </p:nvSpPr>
        <p:spPr>
          <a:xfrm>
            <a:off x="3230880" y="1145540"/>
            <a:ext cx="5556251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数量词，一片</a:t>
            </a:r>
          </a:p>
        </p:txBody>
      </p:sp>
      <p:sp>
        <p:nvSpPr>
          <p:cNvPr id="11" name="Text Box 20"/>
          <p:cNvSpPr txBox="1"/>
          <p:nvPr/>
        </p:nvSpPr>
        <p:spPr>
          <a:xfrm>
            <a:off x="3491865" y="200723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整个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07696" y="3030857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或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690371" y="2430780"/>
            <a:ext cx="40741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而或长烟一空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或异二者之为</a:t>
            </a:r>
            <a:endParaRPr lang="zh-CN" altLang="en-US" sz="2800" spc="-132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一食或尽粟一石《马说》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或以钱币乞之《伤仲永》</a:t>
            </a:r>
          </a:p>
        </p:txBody>
      </p:sp>
      <p:sp>
        <p:nvSpPr>
          <p:cNvPr id="23" name="左大括号 22"/>
          <p:cNvSpPr/>
          <p:nvPr/>
        </p:nvSpPr>
        <p:spPr>
          <a:xfrm>
            <a:off x="1273811" y="2656840"/>
            <a:ext cx="416560" cy="133223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07696" y="4559937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空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690369" y="4134486"/>
            <a:ext cx="47028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浊浪排空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而或长烟一空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皆若空游无所依《小石潭记》</a:t>
            </a:r>
            <a:endParaRPr lang="zh-CN" altLang="en-US" sz="2800" spc="-132">
              <a:solidFill>
                <a:srgbClr val="41414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</p:txBody>
      </p:sp>
      <p:sp>
        <p:nvSpPr>
          <p:cNvPr id="26" name="左大括号 25"/>
          <p:cNvSpPr/>
          <p:nvPr/>
        </p:nvSpPr>
        <p:spPr>
          <a:xfrm>
            <a:off x="1273811" y="4360545"/>
            <a:ext cx="416560" cy="95504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  <p:bldP spid="19" grpId="0"/>
      <p:bldP spid="20" grpId="0"/>
      <p:bldP spid="6" grpId="0"/>
      <p:bldP spid="27" grpId="0"/>
      <p:bldP spid="28" grpId="0"/>
      <p:bldP spid="29" grpId="0" animBg="1"/>
      <p:bldP spid="7" grpId="0"/>
      <p:bldP spid="11" grpId="0"/>
      <p:bldP spid="12" grpId="0"/>
      <p:bldP spid="22" grpId="0"/>
      <p:bldP spid="23" grpId="0" animBg="1"/>
      <p:bldP spid="24" grpId="0"/>
      <p:bldP spid="25" grpId="0"/>
      <p:bldP spid="2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40435" y="570230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一词多义：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8045" y="1524636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是</a:t>
            </a:r>
          </a:p>
        </p:txBody>
      </p:sp>
      <p:sp>
        <p:nvSpPr>
          <p:cNvPr id="35860" name="Text Box 20"/>
          <p:cNvSpPr txBox="1"/>
          <p:nvPr/>
        </p:nvSpPr>
        <p:spPr>
          <a:xfrm>
            <a:off x="3319145" y="115252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这样</a:t>
            </a:r>
          </a:p>
        </p:txBody>
      </p:sp>
      <p:sp>
        <p:nvSpPr>
          <p:cNvPr id="8" name="Text Box 20"/>
          <p:cNvSpPr txBox="1"/>
          <p:nvPr/>
        </p:nvSpPr>
        <p:spPr>
          <a:xfrm>
            <a:off x="5983605" y="155575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这、此</a:t>
            </a:r>
            <a:endParaRPr lang="en-US" altLang="zh-CN" sz="2800" b="1">
              <a:solidFill>
                <a:srgbClr val="C0000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0" name="Text Box 20"/>
          <p:cNvSpPr txBox="1"/>
          <p:nvPr/>
        </p:nvSpPr>
        <p:spPr>
          <a:xfrm>
            <a:off x="5567681" y="200660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判断动词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73885" y="1152525"/>
            <a:ext cx="43065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是进亦忧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是日更定矣《湖心亭看雪》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是金陵人《湖心亭看雪》</a:t>
            </a:r>
            <a:endParaRPr lang="zh-CN" altLang="en-US" sz="2800" spc="-132">
              <a:solidFill>
                <a:srgbClr val="41414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  <a:p>
            <a:pPr lvl="0" algn="l" fontAlgn="auto">
              <a:lnSpc>
                <a:spcPct val="100000"/>
              </a:lnSpc>
              <a:defRPr/>
            </a:pPr>
            <a:endParaRPr lang="zh-CN" altLang="en-US" sz="2800" spc="-132">
              <a:solidFill>
                <a:srgbClr val="41414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1515111" y="1367791"/>
            <a:ext cx="487045" cy="897255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 Box 20"/>
          <p:cNvSpPr txBox="1"/>
          <p:nvPr/>
        </p:nvSpPr>
        <p:spPr>
          <a:xfrm>
            <a:off x="3319145" y="252857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面对，迎</a:t>
            </a:r>
          </a:p>
        </p:txBody>
      </p:sp>
      <p:sp>
        <p:nvSpPr>
          <p:cNvPr id="15" name="Text Box 20"/>
          <p:cNvSpPr txBox="1"/>
          <p:nvPr/>
        </p:nvSpPr>
        <p:spPr>
          <a:xfrm>
            <a:off x="6593205" y="296735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居高面下</a:t>
            </a:r>
          </a:p>
        </p:txBody>
      </p:sp>
      <p:sp>
        <p:nvSpPr>
          <p:cNvPr id="16" name="Text Box 20"/>
          <p:cNvSpPr txBox="1"/>
          <p:nvPr/>
        </p:nvSpPr>
        <p:spPr>
          <a:xfrm>
            <a:off x="5240021" y="3383280"/>
            <a:ext cx="54584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靠近</a:t>
            </a:r>
          </a:p>
        </p:txBody>
      </p:sp>
      <p:sp>
        <p:nvSpPr>
          <p:cNvPr id="18" name="Text Box 20"/>
          <p:cNvSpPr txBox="1"/>
          <p:nvPr/>
        </p:nvSpPr>
        <p:spPr>
          <a:xfrm>
            <a:off x="4897756" y="3841750"/>
            <a:ext cx="57105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charset="-122"/>
                <a:ea typeface="华文新魏" panose="02010800040101010101" charset="-122"/>
              </a:rPr>
              <a:t>面对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68045" y="3171826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临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73885" y="2521585"/>
            <a:ext cx="48653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把酒临风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有亭翼然临于泉上《醉翁亭记》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临溪而渔《醉翁亭记》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执策而临之《马说》</a:t>
            </a:r>
            <a:endParaRPr lang="zh-CN" altLang="en-US" sz="2800" spc="-132">
              <a:solidFill>
                <a:srgbClr val="41414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  <a:p>
            <a:pPr lvl="0" algn="l" fontAlgn="auto">
              <a:lnSpc>
                <a:spcPct val="100000"/>
              </a:lnSpc>
              <a:defRPr/>
            </a:pPr>
            <a:endParaRPr lang="zh-CN" altLang="en-US" sz="2800" spc="-132">
              <a:solidFill>
                <a:srgbClr val="41414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鯨海酔侯"/>
            </a:endParaRPr>
          </a:p>
        </p:txBody>
      </p:sp>
      <p:sp>
        <p:nvSpPr>
          <p:cNvPr id="11" name="左大括号 10"/>
          <p:cNvSpPr/>
          <p:nvPr/>
        </p:nvSpPr>
        <p:spPr>
          <a:xfrm>
            <a:off x="1515111" y="2736851"/>
            <a:ext cx="487045" cy="1453515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860" grpId="0"/>
      <p:bldP spid="8" grpId="0"/>
      <p:bldP spid="10" grpId="0"/>
      <p:bldP spid="2" grpId="0"/>
      <p:bldP spid="4" grpId="0" animBg="1"/>
      <p:bldP spid="13" grpId="0"/>
      <p:bldP spid="15" grpId="0"/>
      <p:bldP spid="16" grpId="0"/>
      <p:bldP spid="18" grpId="0"/>
      <p:bldP spid="6" grpId="0"/>
      <p:bldP spid="7" grpId="0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40435" y="570230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古今异义：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8045" y="1367792"/>
            <a:ext cx="777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越</a:t>
            </a:r>
          </a:p>
        </p:txBody>
      </p:sp>
      <p:sp>
        <p:nvSpPr>
          <p:cNvPr id="8" name="Text Box 20"/>
          <p:cNvSpPr txBox="1"/>
          <p:nvPr/>
        </p:nvSpPr>
        <p:spPr>
          <a:xfrm>
            <a:off x="3173731" y="1170940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越明年</a:t>
            </a:r>
          </a:p>
        </p:txBody>
      </p:sp>
      <p:sp>
        <p:nvSpPr>
          <p:cNvPr id="10" name="Text Box 20"/>
          <p:cNvSpPr txBox="1"/>
          <p:nvPr/>
        </p:nvSpPr>
        <p:spPr>
          <a:xfrm>
            <a:off x="3702685" y="2006601"/>
            <a:ext cx="34194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属予作文以记之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02155" y="1170942"/>
            <a:ext cx="1700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古：到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今：越过</a:t>
            </a:r>
          </a:p>
        </p:txBody>
      </p:sp>
      <p:sp>
        <p:nvSpPr>
          <p:cNvPr id="4" name="左大括号 3"/>
          <p:cNvSpPr/>
          <p:nvPr/>
        </p:nvSpPr>
        <p:spPr>
          <a:xfrm>
            <a:off x="1515111" y="1367792"/>
            <a:ext cx="487045" cy="559435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Text Box 20"/>
          <p:cNvSpPr txBox="1"/>
          <p:nvPr/>
        </p:nvSpPr>
        <p:spPr>
          <a:xfrm>
            <a:off x="3387091" y="296735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气象万千</a:t>
            </a:r>
          </a:p>
        </p:txBody>
      </p:sp>
      <p:sp>
        <p:nvSpPr>
          <p:cNvPr id="15" name="Text Box 20"/>
          <p:cNvSpPr txBox="1"/>
          <p:nvPr/>
        </p:nvSpPr>
        <p:spPr>
          <a:xfrm>
            <a:off x="4011296" y="4873625"/>
            <a:ext cx="34194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连月不开</a:t>
            </a:r>
          </a:p>
        </p:txBody>
      </p:sp>
      <p:sp>
        <p:nvSpPr>
          <p:cNvPr id="16" name="Text Box 20"/>
          <p:cNvSpPr txBox="1"/>
          <p:nvPr/>
        </p:nvSpPr>
        <p:spPr>
          <a:xfrm>
            <a:off x="8856346" y="1053465"/>
            <a:ext cx="30410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春和景明</a:t>
            </a:r>
          </a:p>
        </p:txBody>
      </p:sp>
      <p:sp>
        <p:nvSpPr>
          <p:cNvPr id="18" name="Text Box 20"/>
          <p:cNvSpPr txBox="1"/>
          <p:nvPr/>
        </p:nvSpPr>
        <p:spPr>
          <a:xfrm>
            <a:off x="3387091" y="3920490"/>
            <a:ext cx="57105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前人之述备矣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90245" y="2205991"/>
            <a:ext cx="1133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作文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42466" y="2006602"/>
            <a:ext cx="20694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古：写文章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今：文章</a:t>
            </a:r>
          </a:p>
        </p:txBody>
      </p:sp>
      <p:sp>
        <p:nvSpPr>
          <p:cNvPr id="11" name="左大括号 10"/>
          <p:cNvSpPr/>
          <p:nvPr/>
        </p:nvSpPr>
        <p:spPr>
          <a:xfrm>
            <a:off x="1515111" y="2124075"/>
            <a:ext cx="487045" cy="74803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" y="3166746"/>
            <a:ext cx="1133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气象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942466" y="2967357"/>
            <a:ext cx="23920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古：景象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今：天气</a:t>
            </a:r>
          </a:p>
        </p:txBody>
      </p:sp>
      <p:sp>
        <p:nvSpPr>
          <p:cNvPr id="17" name="左大括号 16"/>
          <p:cNvSpPr/>
          <p:nvPr/>
        </p:nvSpPr>
        <p:spPr>
          <a:xfrm>
            <a:off x="1515111" y="3084830"/>
            <a:ext cx="487045" cy="74803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8681" y="4120517"/>
            <a:ext cx="1133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备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942466" y="3920492"/>
            <a:ext cx="23920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古：详尽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今：准备</a:t>
            </a:r>
          </a:p>
        </p:txBody>
      </p:sp>
      <p:sp>
        <p:nvSpPr>
          <p:cNvPr id="21" name="左大括号 20"/>
          <p:cNvSpPr/>
          <p:nvPr/>
        </p:nvSpPr>
        <p:spPr>
          <a:xfrm>
            <a:off x="1515111" y="4037965"/>
            <a:ext cx="487045" cy="74803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08991" y="5073652"/>
            <a:ext cx="1133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开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942466" y="4873627"/>
            <a:ext cx="37839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古：天气放晴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今：</a:t>
            </a: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“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关</a:t>
            </a:r>
            <a:r>
              <a:rPr lang="en-US" altLang="zh-CN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”</a:t>
            </a: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的反义词</a:t>
            </a:r>
          </a:p>
        </p:txBody>
      </p:sp>
      <p:sp>
        <p:nvSpPr>
          <p:cNvPr id="24" name="左大括号 23"/>
          <p:cNvSpPr/>
          <p:nvPr/>
        </p:nvSpPr>
        <p:spPr>
          <a:xfrm>
            <a:off x="1515111" y="4991100"/>
            <a:ext cx="487045" cy="74803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29376" y="1324612"/>
            <a:ext cx="1133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景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430771" y="1053467"/>
            <a:ext cx="23920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古：日光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今：风景</a:t>
            </a:r>
          </a:p>
        </p:txBody>
      </p:sp>
      <p:sp>
        <p:nvSpPr>
          <p:cNvPr id="27" name="左大括号 26"/>
          <p:cNvSpPr/>
          <p:nvPr/>
        </p:nvSpPr>
        <p:spPr>
          <a:xfrm>
            <a:off x="7075806" y="1203325"/>
            <a:ext cx="487045" cy="74803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29376" y="2406017"/>
            <a:ext cx="1133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制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503160" y="2205992"/>
            <a:ext cx="23920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古：规模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今：制度</a:t>
            </a:r>
          </a:p>
        </p:txBody>
      </p:sp>
      <p:sp>
        <p:nvSpPr>
          <p:cNvPr id="30" name="左大括号 29"/>
          <p:cNvSpPr/>
          <p:nvPr/>
        </p:nvSpPr>
        <p:spPr>
          <a:xfrm>
            <a:off x="7075806" y="2323465"/>
            <a:ext cx="487045" cy="74803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" name="Text Box 20"/>
          <p:cNvSpPr txBox="1"/>
          <p:nvPr/>
        </p:nvSpPr>
        <p:spPr>
          <a:xfrm>
            <a:off x="8935086" y="2221865"/>
            <a:ext cx="30410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增其旧制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429376" y="3495041"/>
            <a:ext cx="1133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国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503160" y="3295015"/>
            <a:ext cx="23920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古：国都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今：制度</a:t>
            </a:r>
          </a:p>
        </p:txBody>
      </p:sp>
      <p:sp>
        <p:nvSpPr>
          <p:cNvPr id="35" name="左大括号 34"/>
          <p:cNvSpPr/>
          <p:nvPr/>
        </p:nvSpPr>
        <p:spPr>
          <a:xfrm>
            <a:off x="7075806" y="3412490"/>
            <a:ext cx="487045" cy="74803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6" name="Text Box 20"/>
          <p:cNvSpPr txBox="1"/>
          <p:nvPr/>
        </p:nvSpPr>
        <p:spPr>
          <a:xfrm>
            <a:off x="8935086" y="3310890"/>
            <a:ext cx="30410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去国怀乡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429376" y="4535807"/>
            <a:ext cx="1133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尝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503160" y="4335782"/>
            <a:ext cx="23920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古：曾经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今：品尝</a:t>
            </a:r>
          </a:p>
        </p:txBody>
      </p:sp>
      <p:sp>
        <p:nvSpPr>
          <p:cNvPr id="39" name="左大括号 38"/>
          <p:cNvSpPr/>
          <p:nvPr/>
        </p:nvSpPr>
        <p:spPr>
          <a:xfrm>
            <a:off x="7075806" y="4453255"/>
            <a:ext cx="487045" cy="74803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" name="Text Box 20"/>
          <p:cNvSpPr txBox="1"/>
          <p:nvPr/>
        </p:nvSpPr>
        <p:spPr>
          <a:xfrm>
            <a:off x="8935086" y="4351656"/>
            <a:ext cx="304101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予尝求古仁人之心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429376" y="5488942"/>
            <a:ext cx="1133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32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微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503161" y="5288916"/>
            <a:ext cx="29229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古：如果没有</a:t>
            </a:r>
          </a:p>
          <a:p>
            <a:pPr lvl="0" algn="l" fontAlgn="auto">
              <a:lnSpc>
                <a:spcPct val="100000"/>
              </a:lnSpc>
              <a:defRPr/>
            </a:pPr>
            <a:r>
              <a:rPr lang="zh-CN" altLang="en-US" sz="28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今：细微，微小</a:t>
            </a:r>
          </a:p>
        </p:txBody>
      </p:sp>
      <p:sp>
        <p:nvSpPr>
          <p:cNvPr id="43" name="左大括号 42"/>
          <p:cNvSpPr/>
          <p:nvPr/>
        </p:nvSpPr>
        <p:spPr>
          <a:xfrm>
            <a:off x="7075806" y="5406390"/>
            <a:ext cx="487045" cy="748030"/>
          </a:xfrm>
          <a:prstGeom prst="leftBrac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" name="Text Box 20"/>
          <p:cNvSpPr txBox="1"/>
          <p:nvPr/>
        </p:nvSpPr>
        <p:spPr>
          <a:xfrm>
            <a:off x="9660257" y="5288915"/>
            <a:ext cx="30410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微斯人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4" grpId="0" animBg="1"/>
      <p:bldP spid="13" grpId="0"/>
      <p:bldP spid="15" grpId="0"/>
      <p:bldP spid="16" grpId="0"/>
      <p:bldP spid="18" grpId="0"/>
      <p:bldP spid="6" grpId="0"/>
      <p:bldP spid="11" grpId="0" animBg="1"/>
      <p:bldP spid="9" grpId="0"/>
      <p:bldP spid="17" grpId="0" animBg="1"/>
      <p:bldP spid="19" grpId="0"/>
      <p:bldP spid="21" grpId="0" animBg="1"/>
      <p:bldP spid="22" grpId="0"/>
      <p:bldP spid="24" grpId="0" animBg="1"/>
      <p:bldP spid="25" grpId="0"/>
      <p:bldP spid="27" grpId="0" animBg="1"/>
      <p:bldP spid="28" grpId="0"/>
      <p:bldP spid="30" grpId="0" animBg="1"/>
      <p:bldP spid="31" grpId="0"/>
      <p:bldP spid="33" grpId="0"/>
      <p:bldP spid="35" grpId="0" animBg="1"/>
      <p:bldP spid="36" grpId="0"/>
      <p:bldP spid="37" grpId="0"/>
      <p:bldP spid="39" grpId="0" animBg="1"/>
      <p:bldP spid="40" grpId="0"/>
      <p:bldP spid="41" grpId="0"/>
      <p:bldP spid="43" grpId="0" animBg="1"/>
      <p:bldP spid="4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40435" y="570230"/>
            <a:ext cx="10137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00000"/>
              </a:lnSpc>
              <a:defRPr/>
            </a:pPr>
            <a:r>
              <a:rPr lang="zh-CN" altLang="en-US" sz="4000" spc="-132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特殊句式：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302" y="4996180"/>
            <a:ext cx="1760855" cy="1536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27431" y="1238886"/>
            <a:ext cx="101371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1.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刻唐贤今人诗赋于其上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2.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属予作文以记之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3.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此则岳阳楼之大观也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4.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迁客骚人，多会于此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5.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居庙堂之高则忧其民，处江湖之远则忧其君</a:t>
            </a:r>
          </a:p>
          <a:p>
            <a:pPr lvl="0" fontAlgn="auto">
              <a:lnSpc>
                <a:spcPct val="150000"/>
              </a:lnSpc>
              <a:defRPr/>
            </a:pPr>
            <a:r>
              <a:rPr lang="en-US" altLang="zh-CN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6.</a:t>
            </a:r>
            <a:r>
              <a:rPr lang="zh-CN" altLang="en-US" sz="3200" spc="-132" dirty="0">
                <a:solidFill>
                  <a:srgbClr val="41414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鯨海酔侯"/>
              </a:rPr>
              <a:t>微斯人，吾谁与归</a:t>
            </a:r>
          </a:p>
        </p:txBody>
      </p:sp>
      <p:sp>
        <p:nvSpPr>
          <p:cNvPr id="16" name="Text Box 20"/>
          <p:cNvSpPr txBox="1"/>
          <p:nvPr/>
        </p:nvSpPr>
        <p:spPr>
          <a:xfrm>
            <a:off x="5424171" y="1507491"/>
            <a:ext cx="304101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倒装句（状语后置）</a:t>
            </a:r>
          </a:p>
        </p:txBody>
      </p:sp>
      <p:sp>
        <p:nvSpPr>
          <p:cNvPr id="2" name="Text Box 20"/>
          <p:cNvSpPr txBox="1"/>
          <p:nvPr/>
        </p:nvSpPr>
        <p:spPr>
          <a:xfrm>
            <a:off x="4321811" y="2174876"/>
            <a:ext cx="304101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省略句（省略主语）</a:t>
            </a:r>
          </a:p>
        </p:txBody>
      </p:sp>
      <p:sp>
        <p:nvSpPr>
          <p:cNvPr id="4" name="Text Box 20"/>
          <p:cNvSpPr txBox="1"/>
          <p:nvPr/>
        </p:nvSpPr>
        <p:spPr>
          <a:xfrm>
            <a:off x="5027297" y="2900045"/>
            <a:ext cx="30410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判断句</a:t>
            </a:r>
          </a:p>
        </p:txBody>
      </p:sp>
      <p:sp>
        <p:nvSpPr>
          <p:cNvPr id="12" name="Text Box 20"/>
          <p:cNvSpPr txBox="1"/>
          <p:nvPr/>
        </p:nvSpPr>
        <p:spPr>
          <a:xfrm>
            <a:off x="5027297" y="3634741"/>
            <a:ext cx="304101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倒装句（状语后置）</a:t>
            </a:r>
          </a:p>
        </p:txBody>
      </p:sp>
      <p:sp>
        <p:nvSpPr>
          <p:cNvPr id="13" name="Text Box 20"/>
          <p:cNvSpPr txBox="1"/>
          <p:nvPr/>
        </p:nvSpPr>
        <p:spPr>
          <a:xfrm>
            <a:off x="8837297" y="4389756"/>
            <a:ext cx="304101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倒装句（定语后置）</a:t>
            </a:r>
          </a:p>
        </p:txBody>
      </p:sp>
      <p:sp>
        <p:nvSpPr>
          <p:cNvPr id="15" name="Text Box 20"/>
          <p:cNvSpPr txBox="1"/>
          <p:nvPr/>
        </p:nvSpPr>
        <p:spPr>
          <a:xfrm>
            <a:off x="4575177" y="5143501"/>
            <a:ext cx="304101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800" b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倒装句（宾语前置）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  <p:bldP spid="4" grpId="0"/>
      <p:bldP spid="12" grpId="0"/>
      <p:bldP spid="13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1300480"/>
            <a:ext cx="12191365" cy="5557520"/>
            <a:chOff x="0" y="2111"/>
            <a:chExt cx="19199" cy="8752"/>
          </a:xfrm>
        </p:grpSpPr>
        <p:pic>
          <p:nvPicPr>
            <p:cNvPr id="2" name="图片 1" descr="鸟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111"/>
              <a:ext cx="10028" cy="8752"/>
            </a:xfrm>
            <a:prstGeom prst="rect">
              <a:avLst/>
            </a:prstGeom>
          </p:spPr>
        </p:pic>
        <p:pic>
          <p:nvPicPr>
            <p:cNvPr id="3" name="图片 2" descr="建筑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" y="6074"/>
              <a:ext cx="19198" cy="4789"/>
            </a:xfrm>
            <a:prstGeom prst="rect">
              <a:avLst/>
            </a:prstGeom>
          </p:spPr>
        </p:pic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905" y="261622"/>
            <a:ext cx="3138171" cy="44392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99991" y="1050926"/>
            <a:ext cx="5343525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望洞庭湖赠张丞相</a:t>
            </a:r>
          </a:p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孟浩然</a:t>
            </a:r>
          </a:p>
          <a:p>
            <a:pPr algn="ctr"/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八月湖水平，涵虚混太清。</a:t>
            </a:r>
          </a:p>
          <a:p>
            <a:pPr algn="ctr"/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气蒸云梦泽，波撼岳阳城。</a:t>
            </a:r>
          </a:p>
          <a:p>
            <a:pPr algn="ctr"/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欲济无舟楫，端居耻圣明。</a:t>
            </a:r>
          </a:p>
          <a:p>
            <a:pPr algn="ctr"/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华文行楷" panose="02010800040101010101" charset="-122"/>
              <a:ea typeface="华文行楷" panose="02010800040101010101" charset="-122"/>
            </a:endParaRPr>
          </a:p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</a:rPr>
              <a:t>坐观垂钓者，徒有羡鱼情。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289781" y="261628"/>
            <a:ext cx="11613707" cy="6334749"/>
          </a:xfrm>
          <a:prstGeom prst="rect">
            <a:avLst/>
          </a:prstGeom>
          <a:solidFill>
            <a:sysClr val="window" lastClr="FFFFFF"/>
          </a:solidFill>
          <a:ln w="381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6089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88212" y="826226"/>
            <a:ext cx="1182915" cy="1589315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6266" y="4505390"/>
            <a:ext cx="199279" cy="23393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0" y="1300480"/>
            <a:ext cx="12191365" cy="5557520"/>
            <a:chOff x="0" y="2111"/>
            <a:chExt cx="19199" cy="8752"/>
          </a:xfrm>
        </p:grpSpPr>
        <p:pic>
          <p:nvPicPr>
            <p:cNvPr id="2" name="图片 1" descr="鸟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111"/>
              <a:ext cx="10028" cy="8752"/>
            </a:xfrm>
            <a:prstGeom prst="rect">
              <a:avLst/>
            </a:prstGeom>
          </p:spPr>
        </p:pic>
        <p:pic>
          <p:nvPicPr>
            <p:cNvPr id="3" name="图片 2" descr="建筑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" y="6074"/>
              <a:ext cx="19198" cy="4789"/>
            </a:xfrm>
            <a:prstGeom prst="rect">
              <a:avLst/>
            </a:prstGeom>
          </p:spPr>
        </p:pic>
      </p:grpSp>
      <p:sp>
        <p:nvSpPr>
          <p:cNvPr id="66" name="矩形 65"/>
          <p:cNvSpPr/>
          <p:nvPr/>
        </p:nvSpPr>
        <p:spPr>
          <a:xfrm>
            <a:off x="5809338" y="1341120"/>
            <a:ext cx="1538883" cy="324739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b="0" i="0" u="none" strike="noStrike" kern="1200" cap="none" spc="0" normalizeH="0" baseline="0" noProof="0">
                <a:ln>
                  <a:noFill/>
                </a:ln>
                <a:solidFill>
                  <a:srgbClr val="1B3D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篆体" panose="03000509000000000000" pitchFamily="65" charset="-122"/>
                <a:ea typeface="方正小篆体" panose="03000509000000000000" pitchFamily="65" charset="-122"/>
                <a:cs typeface="+mn-cs"/>
              </a:rPr>
              <a:t>再见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7265" y="261620"/>
            <a:ext cx="3305811" cy="4676140"/>
          </a:xfrm>
          <a:prstGeom prst="rect">
            <a:avLst/>
          </a:prstGeom>
        </p:spPr>
      </p:pic>
      <p:pic>
        <p:nvPicPr>
          <p:cNvPr id="69" name="New picture"/>
          <p:cNvPicPr/>
          <p:nvPr/>
        </p:nvPicPr>
        <p:blipFill>
          <a:blip r:embed="rId8"/>
          <a:stretch>
            <a:fillRect/>
          </a:stretch>
        </p:blipFill>
        <p:spPr>
          <a:xfrm>
            <a:off x="12268201" y="10160000"/>
            <a:ext cx="342900" cy="254000"/>
          </a:xfrm>
          <a:prstGeom prst="cub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0.11.30"/>
  <p:tag name="AS_TITLE" val="Aspose.Slides for Java"/>
  <p:tag name="AS_VERSION" val="20.11"/>
</p:tagLst>
</file>

<file path=ppt/theme/theme1.xml><?xml version="1.0" encoding="utf-8"?>
<a:theme xmlns:a="http://schemas.openxmlformats.org/drawingml/2006/main" name="第一PPT模板网-WWW.1PPT.COM 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模板网-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第一PPT模板网-WWW.1PPT.COM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3397</Words>
  <Application>Microsoft Office PowerPoint</Application>
  <PresentationFormat>宽屏</PresentationFormat>
  <Paragraphs>536</Paragraphs>
  <Slides>35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51" baseType="lpstr">
      <vt:lpstr>等线</vt:lpstr>
      <vt:lpstr>等线 Light</vt:lpstr>
      <vt:lpstr>方正小篆体</vt:lpstr>
      <vt:lpstr>方正姚体</vt:lpstr>
      <vt:lpstr>华文新魏</vt:lpstr>
      <vt:lpstr>华文行楷</vt:lpstr>
      <vt:lpstr>楷体_GB2312</vt:lpstr>
      <vt:lpstr>隶书</vt:lpstr>
      <vt:lpstr>迷你简小隶书</vt:lpstr>
      <vt:lpstr>Arial</vt:lpstr>
      <vt:lpstr>Calibri</vt:lpstr>
      <vt:lpstr>Calibri Light</vt:lpstr>
      <vt:lpstr>第一PPT模板网-WWW.1PPT.COM ​​</vt:lpstr>
      <vt:lpstr>2_Office 主题</vt:lpstr>
      <vt:lpstr>第一PPT模板网-WWW.1PPT.COM</vt:lpstr>
      <vt:lpstr>第一PPT模板网-WWW.1PPT.COM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第一PPT模板网-WWW.1PPT.COM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第一PPT模板网-WWW.1PPT.COM</dc:creator>
  <cp:lastModifiedBy>Karry du</cp:lastModifiedBy>
  <cp:revision>5</cp:revision>
  <cp:lastPrinted>2022-11-07T12:13:30Z</cp:lastPrinted>
  <dcterms:created xsi:type="dcterms:W3CDTF">2022-11-07T12:13:30Z</dcterms:created>
  <dcterms:modified xsi:type="dcterms:W3CDTF">2026-09-19T12:30:45Z</dcterms:modified>
</cp:coreProperties>
</file>