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同学们好，今天我们的主题班会聊一个很"老"却很有意思的话题——书院文化。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在今天的大学出现之前，中国人读书、讲学、思想碰撞，最重要的场所就是书院。它不是官府办的学堂，而是学者们自己择地而居、聚徒讲学的地方。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这节课我们一起走进几座有名的书院，看看千年前的"大学生"是怎么读书的，又留给了我们什么。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这节课分四个部分。先搞清楚书院到底是什么、和官府办的学校有什么不同。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然后重点看四座最有名的书院——它们各自在什么地方、出过哪些大学问家、又留下了什么。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接着了解书院的教学方式，最后回到我们自己：千年之前的读书法，今天还管用吗。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先纠正一个常见误解：书院不是官办学校，至少一开始不是。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左边的官学——国子监、太学，是朝廷办的，学生毕业就是候补官员，课程围着科举转，有点像今天"为考试而学"。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而书院是学者自己挑地方、自己讲学问，山林里、泉水边，讲究的是"传道济民"，师生同吃同住。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记住这个区别：书院的灵魂，是自由讲学和师生情谊。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书院不是一天建成的。唐末天下大乱，官学废弛，读书人跑到山里自己读书、讲学。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到了北宋，天下安定，书院迎来黄金时代，四大书院就在这时成名。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南宋是思想最活跃的时候，朱熹、陆九渊这些大学问家都以书院为舞台。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元明以后，朝廷把书院慢慢收编，它越来越像官学。1901年，清政府下令把书院改成新式学堂——今天的北大、清华，往前追根，都和书院制度有关。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讲完了书院是什么，接下来进入今天的重点——四大书院。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先问一个问题：为什么偏偏是这四座？它们既不在京城，也不在最大的城市，为什么能被记住一千年？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答案藏在每座书院的人和事里。我们一座一座看。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这张表先给大家一个整体印象：四座书院分布在今天的湖南、江西、河南。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岳麓在长沙、白鹿洞在庐山、嵩阳在登封、应天在商丘——两座在河南，一座在湖南，一座在江西。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注意第三列，每座书院都有自己的"镇院之宝"：有的靠学规，有的靠大儒，有的靠一段传奇。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下面我们一座一座细看。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第一座，岳麓书院，就在我们隔壁省——湖南长沙。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它创办于公元976年，距今一千多年。最有名的一件事，是南宋时朱熹和张栻两位大学者在这里当面辩论，据说赶来听课的人把山下的池水都喝干了。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最难得的是：它从没停办过。从书院、到学堂、再到今天的湖南大学，一脉相承。门口那副对联"惟楚有材，于斯为盛"，说的就是这里。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第二座，白鹿洞书院，在江西庐山。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它最了不起的不是建筑，而是一份文件——朱熹亲手写的《白鹿洞书院揭示》。你可以把它理解成一份"大学校训与学生守则"：怎么读书、怎么做人、怎么待人，都写得清清楚楚。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这份学规从此成了全国书院的模板，甚至传到了朝鲜和日本。所以它被称为"天下书院之首"。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第三座，嵩阳书院，在河南登封，背靠嵩山。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这里是理学的发源地。北宋的程颢、程颐兄弟——后来被朱熹继承发扬，合称"程朱理学"——就在这里讲学。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院里还有两株很神奇的古柏，据说是汉武帝封的"大将军""二将军"，树龄超过四千年。站在树下，你能真的感到什么叫"历史"。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最后一座，应天书院，在河南商丘。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它最特别的身份是：中国书院里，唯一一所从民间书院直接"升级"成国子监的。国子监相当于今天的中央大学，一般只有京城才有。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范仲淹和这里渊源极深——年轻时在这里读书，后来又回来当老师。"先天下之忧而忧"的他，就是从这样的书院里走出来的。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绕了一大圈，最后回到我们自己。书院那些做法，今天过时了吗？其实一点也不。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第一，自学为主——先自己读、自己想，再带着问题去找老师，这正是今天提倡的"探究式学习"。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第二，讲会论辩——敢于和同学、和老师争论问题，而不是只背一个标准答案。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第三，传道传心——好老师不只是教知识，更是做榜样。希望多年以后，你们也能想起某位老师对你说过的一句话。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最后用一副名联结束今天的班会。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这是明代东林书院的对联，几百年前的读书人告诉我们：读书不只是为了自己，也是为了听见这个世界。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书院的故事讲完了，但读书这件事，才刚刚开始。谢谢大家。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7865" b="7865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3556000"/>
            <a:ext cx="12192000" cy="3302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14120F">
                  <a:alpha val="0"/>
                </a:srgbClr>
              </a:gs>
              <a:gs pos="100000">
                <a:srgbClr val="14120F">
                  <a:alpha val="78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191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书院文化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41400" y="5461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5EBDC">
                    <a:alpha val="94902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中国古代的"大学堂" · 班级主题班会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4071" flipH="false" flipV="false">
            <a:off x="1041441" y="5264150"/>
            <a:ext cx="990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17600"/>
            <a:ext cx="635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本次班会，我们聊四件事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152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667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9C5C38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2768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书院何来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540000" y="33274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6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它是什么？和官学有什么不一样？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667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9C5C38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2768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四大书院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0" y="33274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6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岳麓、白鹿洞、嵩阳、应天，凭什么名垂青史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456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4953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9C5C38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2540000" y="5054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书院之道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540000" y="56134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6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古人怎么读书、怎么讲学、怎么论辩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953000"/>
            <a:ext cx="152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200">
                <a:solidFill>
                  <a:srgbClr val="9C5C38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5054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今夕何思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56134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6E6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千年书院，今天能教我们什么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第一章 · 书院何来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书院，和官府办的官学有什么不一样？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57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E6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官学 · 国子监与太学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857500"/>
            <a:ext cx="4572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50000"/>
              </a:lnSpc>
              <a:buClr>
                <a:srgbClr val="3C3732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由朝廷直接设立，经费来自官府</a:t>
            </a:r>
            <a:endParaRPr lang="en-US" sz="1100"/>
          </a:p>
          <a:p>
            <a:pPr algn="l" indent="-203200" marL="203200">
              <a:lnSpc>
                <a:spcPct val="150000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6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培养目标是输送官吏，服务科举</a:t>
            </a:r>
          </a:p>
          <a:p>
            <a:pPr algn="l" indent="-203200" marL="203200">
              <a:lnSpc>
                <a:spcPct val="150000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6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课程程式固定，讲什么、怎么考都有规定</a:t>
            </a:r>
          </a:p>
          <a:p>
            <a:pPr algn="l" indent="-203200" marL="203200">
              <a:lnSpc>
                <a:spcPct val="150000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6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师生按班次上课，关系松散</a:t>
            </a:r>
          </a:p>
        </p:txBody>
      </p:sp>
      <p:cxnSp>
        <p:nvCxnSpPr>
          <p:cNvPr name="Connector 7" id="7"/>
          <p:cNvCxnSpPr/>
          <p:nvPr/>
        </p:nvCxnSpPr>
        <p:spPr>
          <a:xfrm rot="5386249" flipH="false" flipV="false">
            <a:off x="4508500" y="3867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604000" y="2286000"/>
            <a:ext cx="457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 · 学者自办的学府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604000" y="2857500"/>
            <a:ext cx="4572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203200" marL="203200">
              <a:lnSpc>
                <a:spcPct val="150000"/>
              </a:lnSpc>
              <a:buClr>
                <a:srgbClr val="2B2B2B"/>
              </a:buClr>
              <a:buChar char="•"/>
              <a:defRPr/>
            </a:pPr>
            <a:r>
              <a:rPr lang="en-US" b="false" i="false" strike="noStrike" u="none" sz="16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多由名儒私人创办，或获官方支持</a:t>
            </a:r>
            <a:endParaRPr lang="en-US" sz="1100"/>
          </a:p>
          <a:p>
            <a:pPr algn="l" indent="-203200" marL="203200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b="false" i="false" strike="noStrike" u="none" sz="16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择山林名胜之地，藏书、讲学、研究并重</a:t>
            </a:r>
          </a:p>
          <a:p>
            <a:pPr algn="l" indent="-203200" marL="203200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b="false" i="false" strike="noStrike" u="none" sz="16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自由讲论义理，不只应付考试</a:t>
            </a:r>
          </a:p>
          <a:p>
            <a:pPr algn="l" indent="-203200" marL="203200">
              <a:lnSpc>
                <a:spcPct val="150000"/>
              </a:lnSpc>
              <a:buClr>
                <a:srgbClr val="2B2B2B"/>
              </a:buClr>
              <a:buChar char="•"/>
            </a:pPr>
            <a:r>
              <a:rPr lang="en-US" b="false" i="false" strike="noStrike" u="none" sz="16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师生朝夕相处，情同家人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842000"/>
            <a:ext cx="10160000" cy="558800"/>
          </a:xfrm>
          <a:prstGeom prst="roundRect">
            <a:avLst>
              <a:gd name="adj" fmla="val 0"/>
            </a:avLst>
          </a:prstGeom>
          <a:solidFill>
            <a:srgbClr val="9C5C3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70000" y="5918200"/>
            <a:ext cx="965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372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一句话：官学像"体制内的培训班"，书院更像古代中国的"民间大学"。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第一章 · 书院何来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一千多年里，书院经历了怎样的起落？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-4645" flipH="false" flipV="false">
            <a:off x="1397004" y="3930650"/>
            <a:ext cx="939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C5C38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587500" y="3835400"/>
            <a:ext cx="203200" cy="203200"/>
          </a:xfrm>
          <a:prstGeom prst="ellipse">
            <a:avLst/>
          </a:prstGeom>
          <a:solidFill>
            <a:srgbClr val="9C5C3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唐末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2545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04841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战乱中，读书人避入山林，建舍藏书、授徒讲学，书院由此萌芽。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746500" y="3835400"/>
            <a:ext cx="203200" cy="203200"/>
          </a:xfrm>
          <a:prstGeom prst="ellipse">
            <a:avLst/>
          </a:prstGeom>
          <a:solidFill>
            <a:srgbClr val="9C5C3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11500" y="254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北宋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048000" y="42545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04841"/>
                </a:solidFill>
                <a:latin typeface="Noto Serif SC"/>
                <a:ea typeface="Noto Serif SC"/>
                <a:cs typeface="Noto Serif SC"/>
                <a:sym typeface="Noto Serif SC"/>
              </a:rPr>
              <a:t>白鹿洞、岳麓、嵩阳、应天四大书院并称，书院进入黄金时代。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05500" y="3835400"/>
            <a:ext cx="203200" cy="203200"/>
          </a:xfrm>
          <a:prstGeom prst="ellipse">
            <a:avLst/>
          </a:prstGeom>
          <a:solidFill>
            <a:srgbClr val="9C5C3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70500" y="254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南宋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207000" y="42545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04841"/>
                </a:solidFill>
                <a:latin typeface="Noto Serif SC"/>
                <a:ea typeface="Noto Serif SC"/>
                <a:cs typeface="Noto Serif SC"/>
                <a:sym typeface="Noto Serif SC"/>
              </a:rPr>
              <a:t>朱熹、陆九渊等大儒主持书院，讲会论辩成风，理学成熟。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64500" y="3835400"/>
            <a:ext cx="203200" cy="203200"/>
          </a:xfrm>
          <a:prstGeom prst="ellipse">
            <a:avLst/>
          </a:prstGeom>
          <a:solidFill>
            <a:srgbClr val="9C5C3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429500" y="254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元明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366000" y="42545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04841"/>
                </a:solidFill>
                <a:latin typeface="Noto Serif SC"/>
                <a:ea typeface="Noto Serif SC"/>
                <a:cs typeface="Noto Serif SC"/>
                <a:sym typeface="Noto Serif SC"/>
              </a:rPr>
              <a:t>朝廷加强控制，书院官学化，数量大增，独立讲学精神渐弱。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223500" y="3835400"/>
            <a:ext cx="203200" cy="203200"/>
          </a:xfrm>
          <a:prstGeom prst="ellipse">
            <a:avLst/>
          </a:prstGeom>
          <a:solidFill>
            <a:srgbClr val="783C2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88500" y="2540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清末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0" y="42545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504841"/>
                </a:solidFill>
                <a:latin typeface="Noto Serif SC"/>
                <a:ea typeface="Noto Serif SC"/>
                <a:cs typeface="Noto Serif SC"/>
                <a:sym typeface="Noto Serif SC"/>
              </a:rPr>
              <a:t>1901 年诏令书院改为学堂，中国近代大学由此萌芽。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6032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786E64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从唐末到清末，书院绵延千年；它的终点，恰恰是中国现代大学的起点。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B2B2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524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9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CHAPTER 02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600">
                <a:solidFill>
                  <a:srgbClr val="FAF7F2"/>
                </a:solidFill>
                <a:latin typeface="Noto Serif SC"/>
                <a:ea typeface="Noto Serif SC"/>
                <a:cs typeface="Noto Serif SC"/>
                <a:sym typeface="Noto Serif SC"/>
              </a:rPr>
              <a:t>四大书院，凭什么名垂青史？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5077" flipH="false" flipV="false">
            <a:off x="1041432" y="3676650"/>
            <a:ext cx="1244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4064000"/>
            <a:ext cx="965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800">
                <a:solidFill>
                  <a:srgbClr val="DCD2C3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它们或藏于深山，或位于古城，没有今天大学的高楼，却走出了朱熹、陆九渊、范仲淹……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DCD2C3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下一站，我们走进这四座学府，看看每一座最了不起的地方是什么。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第二章 · 四大书院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先认识一下：四大书院各自在哪里？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3495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159000"/>
                <a:gridCol w="3429000"/>
                <a:gridCol w="2921000"/>
              </a:tblGrid>
              <a:tr h="558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AF0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372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AF0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所在地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372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AF0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代表人物与事件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372D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FFFAF0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一句话地位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6372D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78412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岳麓书院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湖南长沙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朱熹、张栻会讲，千年办学不辍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"惟楚有材，于斯为盛"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78412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白鹿洞书院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江西庐山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朱熹复兴，手订《揭示》学规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天下书院之首，学规典范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78412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嵩阳书院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河南登封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程颢、程颐讲学，司马光著史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理学发祥地，高山仰止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784128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应天书院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河南商丘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范仲淹掌学，后升格为国子监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732"/>
                          </a:solidFill>
                          <a:latin typeface="Noto Serif SC"/>
                          <a:ea typeface="Noto Serif SC"/>
                          <a:cs typeface="Noto Serif SC"/>
                          <a:sym typeface="Noto Serif SC"/>
                        </a:rPr>
                        <a:t>唯一升为"国立"的书院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1016000" y="6159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786E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注：四大书院另有含石鼓、茅山之说，通行说法以上述四院为代表。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第二章 · 四大书院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906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岳麓书院：惟楚有材，于斯为盛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89" r="89" t="0" b="0"/>
          <a:stretch>
            <a:fillRect/>
          </a:stretch>
        </p:blipFill>
        <p:spPr>
          <a:xfrm rot="0" flipH="false" flipV="false">
            <a:off x="889000" y="2095500"/>
            <a:ext cx="5461000" cy="3644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58420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786E"/>
                </a:solidFill>
                <a:latin typeface="Noto Serif SC"/>
                <a:ea typeface="Noto Serif SC"/>
                <a:cs typeface="Noto Serif SC"/>
                <a:sym typeface="Noto Serif SC"/>
              </a:rPr>
              <a:t>岳麓书院御书楼（今属湖南大学）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千年学府，弦歌不绝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2667000"/>
            <a:ext cx="4445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  <a:defRPr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北宋开宝九年（976 年）创办，位于长沙岳麓山下。</a:t>
            </a:r>
            <a:endParaRPr lang="en-US" sz="1100"/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南宋朱熹、张栻在此"会讲"，听讲者千余，车马塞路。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1903 年改为湖南高等学堂，今为湖南大学一部分。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办学千年从未中断，是世界上罕见的"活到今天"的古老学府。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第二章 · 四大书院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906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白鹿洞书院：朱熹手订的"大学章程"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《白鹿洞书院揭示》影响后世七百年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667000"/>
            <a:ext cx="4953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  <a:defRPr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位于江西庐山五老峰下，唐代李渤隐居读书处。</a:t>
            </a:r>
            <a:endParaRPr lang="en-US" sz="1100"/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南宋朱熹重修书院，亲订学规《揭示》。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学规规定了为学、修身、处事、接物的准则，成为天下书院共同遵守的"校训"。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后世书院多以此为蓝本，还远播日本、朝鲜。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59"/>
          <a:stretch>
            <a:fillRect/>
          </a:stretch>
        </p:blipFill>
        <p:spPr>
          <a:xfrm rot="0" flipH="false" flipV="false">
            <a:off x="6223000" y="2095500"/>
            <a:ext cx="5207000" cy="3467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223000" y="5715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786E"/>
                </a:solidFill>
                <a:latin typeface="Noto Serif SC"/>
                <a:ea typeface="Noto Serif SC"/>
                <a:cs typeface="Noto Serif SC"/>
                <a:sym typeface="Noto Serif SC"/>
              </a:rPr>
              <a:t>白鹿洞书院正门，额书"白鹿洞书院"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第二章 · 四大书院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906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嵩阳书院：二程讲学，理学在此生根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8"/>
          <a:stretch>
            <a:fillRect/>
          </a:stretch>
        </p:blipFill>
        <p:spPr>
          <a:xfrm rot="0" flipH="false" flipV="false">
            <a:off x="889000" y="2095500"/>
            <a:ext cx="5461000" cy="3644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58420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786E"/>
                </a:solidFill>
                <a:latin typeface="Noto Serif SC"/>
                <a:ea typeface="Noto Serif SC"/>
                <a:cs typeface="Noto Serif SC"/>
                <a:sym typeface="Noto Serif SC"/>
              </a:rPr>
              <a:t>嵩阳书院大门，背依嵩山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159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站在嵩山脚下的思想高地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2667000"/>
            <a:ext cx="4445000" cy="342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  <a:defRPr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位于河南登封嵩山南麓，北魏时始建。</a:t>
            </a:r>
            <a:endParaRPr lang="en-US" sz="1100"/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北宋程颢、程颐兄弟在此讲学，理学由此传向全国。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司马光、范仲淹等名臣亦曾在此论学。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院内两株"大将军柏"，树龄逾四千年，为汉武帝所封。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35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第二章 · 四大书院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990600"/>
            <a:ext cx="1016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应天书院：唯一升为"国子监"的书院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77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89000" y="2159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从民间书舍到"国立大学"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667000"/>
            <a:ext cx="4953000" cy="330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  <a:defRPr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位于河南商丘，北宋应天府。</a:t>
            </a:r>
            <a:endParaRPr lang="en-US" sz="1100"/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范仲淹曾在此求学，后又主持讲席。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1035 年升格为"南京国子监"，与京师国子监并列。</a:t>
            </a:r>
          </a:p>
          <a:p>
            <a:pPr algn="l" indent="-190500" marL="190500">
              <a:lnSpc>
                <a:spcPct val="145833"/>
              </a:lnSpc>
              <a:buClr>
                <a:srgbClr val="3C3732"/>
              </a:buClr>
              <a:buChar char="•"/>
            </a:pPr>
            <a:r>
              <a:rPr lang="en-US" b="false" i="false" strike="noStrike" u="none" sz="1500">
                <a:solidFill>
                  <a:srgbClr val="3C3732"/>
                </a:solidFill>
                <a:latin typeface="Noto Serif SC"/>
                <a:ea typeface="Noto Serif SC"/>
                <a:cs typeface="Noto Serif SC"/>
                <a:sym typeface="Noto Serif SC"/>
              </a:rPr>
              <a:t>它是中国书院史上唯一由民间书院直接成为"国立"的特例。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59"/>
          <a:stretch>
            <a:fillRect/>
          </a:stretch>
        </p:blipFill>
        <p:spPr>
          <a:xfrm rot="0" flipH="false" flipV="false">
            <a:off x="6223000" y="2095500"/>
            <a:ext cx="5207000" cy="34671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6223000" y="5715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2786E"/>
                </a:solidFill>
                <a:latin typeface="Noto Serif SC"/>
                <a:ea typeface="Noto Serif SC"/>
                <a:cs typeface="Noto Serif SC"/>
                <a:sym typeface="Noto Serif SC"/>
              </a:rPr>
              <a:t>应天书院（商丘古城畔复建）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C5C38"/>
                </a:solidFill>
                <a:latin typeface="Noto Serif SC"/>
                <a:ea typeface="Noto Serif SC"/>
                <a:cs typeface="Noto Serif SC"/>
                <a:sym typeface="Noto Serif SC"/>
              </a:rPr>
              <a:t>第三章 · 今夕何思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07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千年书院，今天还能教我们什么？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9C5C38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476500"/>
            <a:ext cx="266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自学为主，先生点拨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78000" y="3048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500">
                <a:solidFill>
                  <a:srgbClr val="463E3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不是先生满堂灌，而是学生先读书、有了疑问再来问，老师点拨几句，往往胜过百句讲授。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84373" flipH="false" flipV="false">
            <a:off x="3302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953000" y="241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9C5C38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0" y="2476500"/>
            <a:ext cx="266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讲会论辩，求同存异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0" y="3048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500">
                <a:solidFill>
                  <a:srgbClr val="463E37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不同学派公开辩论，如朱熹与陆九渊的"鹅湖之会"。观点可以交锋，人格彼此尊重。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4373" flipH="false" flipV="false">
            <a:off x="6985000" y="3930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5C38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636000" y="24130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9C5C38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398000" y="2476500"/>
            <a:ext cx="1905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传道亦传心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398000" y="3048000"/>
            <a:ext cx="1905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500">
                <a:solidFill>
                  <a:srgbClr val="463E37"/>
                </a:solidFill>
                <a:latin typeface="Noto Serif SC"/>
                <a:ea typeface="Noto Serif SC"/>
                <a:cs typeface="Noto Serif SC"/>
                <a:sym typeface="Noto Serif SC"/>
              </a:rPr>
              <a:t>师生朝夕相处，先生教的不只是书，更是如何做人。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651500"/>
            <a:ext cx="10160000" cy="635000"/>
          </a:xfrm>
          <a:prstGeom prst="roundRect">
            <a:avLst>
              <a:gd name="adj" fmla="val 0"/>
            </a:avLst>
          </a:prstGeom>
          <a:solidFill>
            <a:srgbClr val="9C5C38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70000" y="57531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A3723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书院留给我们的，不是老旧的规矩，而是一种姿态：主动读书、敢于提问、认真做人。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B2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0" y="1397000"/>
            <a:ext cx="889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4945A"/>
                </a:solidFill>
                <a:latin typeface="Noto Serif SC"/>
                <a:ea typeface="Noto Serif SC"/>
                <a:cs typeface="Noto Serif SC"/>
                <a:sym typeface="Noto Serif SC"/>
              </a:rPr>
              <a:t>东林书院 · 顾宪成 题联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AF7F2"/>
                </a:solidFill>
                <a:latin typeface="Kaiti SC"/>
                <a:ea typeface="Kaiti SC"/>
                <a:cs typeface="Kaiti SC"/>
                <a:sym typeface="Kaiti SC"/>
              </a:rPr>
              <a:t>风声雨声读书声，声声入耳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5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FAF7F2"/>
                </a:solidFill>
                <a:latin typeface="Kaiti SC"/>
                <a:ea typeface="Kaiti SC"/>
                <a:cs typeface="Kaiti SC"/>
                <a:sym typeface="Kaiti SC"/>
              </a:rPr>
              <a:t>家事国事天下事，事事关心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5073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4945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5397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700">
                <a:solidFill>
                  <a:srgbClr val="D2C8B9"/>
                </a:solidFill>
                <a:latin typeface="Noto Serif SC"/>
                <a:ea typeface="Noto Serif SC"/>
                <a:cs typeface="Noto Serif SC"/>
                <a:sym typeface="Noto Serif SC"/>
              </a:rPr>
              <a:t>愿我们在自己的时代，也做一个认真读书、心怀天下的人。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{"Label":"1","ContentProducer":"001191110102MACQD9K64010000","ProduceID":"7687308858009079026","ReservedCode1":"","ContentPropagator":"","PropagateID":"","ReservedCode2":""}</vt:lpwstr>
  </property>
</Properties>
</file>